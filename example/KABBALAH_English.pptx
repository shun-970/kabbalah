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5" r:id="rId21"/>
    <p:sldId id="286" r:id="rId22"/>
    <p:sldId id="282" r:id="rId23"/>
    <p:sldId id="287" r:id="rId24"/>
    <p:sldId id="283" r:id="rId25"/>
    <p:sldId id="284" r:id="rId26"/>
    <p:sldId id="288" r:id="rId27"/>
    <p:sldId id="289" r:id="rId28"/>
    <p:sldId id="291" r:id="rId29"/>
    <p:sldId id="292" r:id="rId30"/>
    <p:sldId id="293" r:id="rId31"/>
    <p:sldId id="297" r:id="rId32"/>
    <p:sldId id="295" r:id="rId33"/>
    <p:sldId id="296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6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7.png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8.png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8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83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8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image" Target="../media/image20.png"/><Relationship Id="rId2" Type="http://schemas.openxmlformats.org/officeDocument/2006/relationships/tags" Target="../tags/tag89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image" Target="../media/image18.png"/><Relationship Id="rId3" Type="http://schemas.openxmlformats.org/officeDocument/2006/relationships/tags" Target="../tags/tag9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6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7.xml"/><Relationship Id="rId6" Type="http://schemas.openxmlformats.org/officeDocument/2006/relationships/image" Target="../media/image20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image" Target="../media/image36.png"/><Relationship Id="rId1" Type="http://schemas.openxmlformats.org/officeDocument/2006/relationships/tags" Target="../tags/tag10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image" Target="../media/image37.png"/><Relationship Id="rId1" Type="http://schemas.openxmlformats.org/officeDocument/2006/relationships/tags" Target="../tags/tag10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image" Target="../media/image38.png"/><Relationship Id="rId1" Type="http://schemas.openxmlformats.org/officeDocument/2006/relationships/tags" Target="../tags/tag1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historical be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900" y="340360"/>
            <a:ext cx="5626100" cy="5117465"/>
          </a:xfrm>
          <a:prstGeom prst="rect">
            <a:avLst/>
          </a:prstGeom>
        </p:spPr>
      </p:pic>
      <p:pic>
        <p:nvPicPr>
          <p:cNvPr id="2" name="图片 1" descr="smartphone baseline_init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0"/>
            <a:ext cx="5203190" cy="378714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710430" y="2672080"/>
            <a:ext cx="2280285" cy="3130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" name="表格 11"/>
          <p:cNvGraphicFramePr/>
          <p:nvPr/>
        </p:nvGraphicFramePr>
        <p:xfrm>
          <a:off x="7155815" y="3519805"/>
          <a:ext cx="435864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9320"/>
                <a:gridCol w="2179320"/>
              </a:tblGrid>
              <a:tr h="3403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r>
                        <a:rPr lang="zh-CN" altLang="en-US"/>
                        <a:t>#</a:t>
                      </a: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1.7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EFL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 mm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TTL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13.5 mm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Max. field</a:t>
                      </a: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3.21 mm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Distortion</a:t>
                      </a: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 0.16%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MTF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= 0.4 @ 300 lp/mm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Strehl ratio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= 0.59 @ </a:t>
                      </a:r>
                      <a:r>
                        <a:rPr lang="zh-CN" altLang="en-US"/>
                        <a:t>Max. field</a:t>
                      </a:r>
                      <a:r>
                        <a:rPr lang="en-US" altLang="zh-CN"/>
                        <a:t> 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Relative illumination</a:t>
                      </a: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&gt; 0.85 </a:t>
                      </a:r>
                      <a:endParaRPr lang="en-US" altLang="zh-CN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12420" y="3803015"/>
            <a:ext cx="4758055" cy="23069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2400" b="1"/>
              <a:t>1. </a:t>
            </a:r>
            <a:r>
              <a:rPr lang="zh-CN" altLang="en-US" sz="2400" b="1"/>
              <a:t>Is there a way to </a:t>
            </a:r>
            <a:r>
              <a:rPr lang="en-US" altLang="zh-CN" sz="2400" b="1"/>
              <a:t>‘</a:t>
            </a:r>
            <a:r>
              <a:rPr lang="zh-CN" altLang="en-US" sz="2400" b="1"/>
              <a:t>fully record</a:t>
            </a:r>
            <a:r>
              <a:rPr lang="en-US" altLang="zh-CN" sz="2400" b="1"/>
              <a:t>’</a:t>
            </a:r>
            <a:r>
              <a:rPr lang="zh-CN" altLang="en-US" sz="2400" b="1"/>
              <a:t> the process that leads to a good design?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en-US" altLang="zh-CN" sz="2400" b="1"/>
              <a:t>2. </a:t>
            </a:r>
            <a:r>
              <a:rPr lang="zh-CN" altLang="en-US" sz="2400" b="1"/>
              <a:t>Can we review and analyze historical optimization processes to obtain a better design than before?</a:t>
            </a:r>
            <a:endParaRPr lang="zh-CN" altLang="en-US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4323080" y="1072515"/>
            <a:ext cx="2832735" cy="1624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400"/>
              <a:t>What if we no longer remember how it was obtained?</a:t>
            </a:r>
            <a:endParaRPr lang="zh-CN" altLang="en-US" sz="2400"/>
          </a:p>
        </p:txBody>
      </p:sp>
      <p:sp>
        <p:nvSpPr>
          <p:cNvPr id="15" name="文本框 14"/>
          <p:cNvSpPr txBox="1"/>
          <p:nvPr/>
        </p:nvSpPr>
        <p:spPr>
          <a:xfrm>
            <a:off x="312420" y="1339850"/>
            <a:ext cx="1132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Initial structure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36080" y="1165860"/>
            <a:ext cx="2129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A historical best design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KABBALAH — infrastructure for quantitative analysis of the optical design process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428605" cy="4759325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Reconstruct the complete real optimization history, including all failed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unsaved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rolled-back branches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Automatically save lens data after every optimization run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Automatically organize the history into a tree structure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Merge across files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logs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sessions over time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Translate low-level operations into natural language and add structured annotations to key operations (run optimization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view </a:t>
            </a:r>
            <a:r>
              <a:rPr lang="en-US" altLang="zh-CN">
                <a:solidFill>
                  <a:schemeClr val="tx1"/>
                </a:solidFill>
              </a:rPr>
              <a:t>MTF...</a:t>
            </a:r>
            <a:r>
              <a:rPr lang="zh-CN" altLang="en-US">
                <a:solidFill>
                  <a:schemeClr val="tx1"/>
                </a:solidFill>
              </a:rPr>
              <a:t>); users can freely edit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add annotations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Visual </a:t>
            </a:r>
            <a:r>
              <a:rPr lang="en-US" altLang="zh-CN">
                <a:solidFill>
                  <a:schemeClr val="tx1"/>
                </a:solidFill>
              </a:rPr>
              <a:t>HTML</a:t>
            </a:r>
            <a:r>
              <a:rPr lang="zh-CN" altLang="en-US">
                <a:solidFill>
                  <a:schemeClr val="tx1"/>
                </a:solidFill>
              </a:rPr>
              <a:t> files make human–</a:t>
            </a:r>
            <a:r>
              <a:rPr lang="en-US" altLang="zh-CN">
                <a:solidFill>
                  <a:schemeClr val="tx1"/>
                </a:solidFill>
              </a:rPr>
              <a:t>AI</a:t>
            </a:r>
            <a:r>
              <a:rPr lang="zh-CN" altLang="en-US">
                <a:solidFill>
                  <a:schemeClr val="tx1"/>
                </a:solidFill>
              </a:rPr>
              <a:t> interaction more efficient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......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8760" y="238760"/>
            <a:ext cx="11860530" cy="62388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25450" y="2565400"/>
            <a:ext cx="613410" cy="11639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069465" y="2968625"/>
            <a:ext cx="3538855" cy="8299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400"/>
              <a:t>Unsaved rolled-back</a:t>
            </a:r>
            <a:r>
              <a:rPr lang="en-US" altLang="zh-CN" sz="2400"/>
              <a:t>/</a:t>
            </a:r>
            <a:r>
              <a:rPr lang="zh-CN" altLang="en-US" sz="2400"/>
              <a:t>/ failed operation branch</a:t>
            </a:r>
            <a:endParaRPr lang="zh-CN" altLang="en-US" sz="2400"/>
          </a:p>
        </p:txBody>
      </p:sp>
      <p:cxnSp>
        <p:nvCxnSpPr>
          <p:cNvPr id="3" name="直接箭头连接符 2"/>
          <p:cNvCxnSpPr>
            <a:stCxn id="5" idx="3"/>
            <a:endCxn id="14" idx="1"/>
          </p:cNvCxnSpPr>
          <p:nvPr/>
        </p:nvCxnSpPr>
        <p:spPr>
          <a:xfrm>
            <a:off x="1038860" y="3147695"/>
            <a:ext cx="1030605" cy="23622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65860" y="4697730"/>
            <a:ext cx="613410" cy="11639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605645" y="5053330"/>
            <a:ext cx="613410" cy="11639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6" idx="0"/>
          </p:cNvCxnSpPr>
          <p:nvPr/>
        </p:nvCxnSpPr>
        <p:spPr>
          <a:xfrm flipV="1">
            <a:off x="1472565" y="3781425"/>
            <a:ext cx="1228725" cy="91630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" idx="0"/>
          </p:cNvCxnSpPr>
          <p:nvPr/>
        </p:nvCxnSpPr>
        <p:spPr>
          <a:xfrm flipH="1" flipV="1">
            <a:off x="4218305" y="3833495"/>
            <a:ext cx="5694045" cy="12198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344930" y="2087245"/>
            <a:ext cx="9637395" cy="478155"/>
          </a:xfrm>
          <a:prstGeom prst="rect">
            <a:avLst/>
          </a:prstGeom>
          <a:noFill/>
          <a:ln w="381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900805" y="1056005"/>
            <a:ext cx="3538855" cy="8299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sz="2400"/>
              <a:t>Two different branches derived from the same </a:t>
            </a:r>
            <a:r>
              <a:rPr lang="en-US" altLang="zh-CN" sz="2400"/>
              <a:t>state</a:t>
            </a:r>
            <a:endParaRPr lang="zh-CN" altLang="en-US" sz="2400"/>
          </a:p>
        </p:txBody>
      </p:sp>
      <p:cxnSp>
        <p:nvCxnSpPr>
          <p:cNvPr id="13" name="直接箭头连接符 12"/>
          <p:cNvCxnSpPr>
            <a:endCxn id="12" idx="1"/>
          </p:cNvCxnSpPr>
          <p:nvPr/>
        </p:nvCxnSpPr>
        <p:spPr>
          <a:xfrm flipV="1">
            <a:off x="2416175" y="1471295"/>
            <a:ext cx="1484630" cy="61595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55090" y="93980"/>
            <a:ext cx="1647825" cy="659003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3278505" y="187960"/>
            <a:ext cx="1224280" cy="12242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948555" y="187960"/>
            <a:ext cx="1224280" cy="12242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454140" y="187960"/>
            <a:ext cx="1224280" cy="12242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959725" y="187960"/>
            <a:ext cx="1224280" cy="122428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278505" y="1545590"/>
            <a:ext cx="1327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SAVED state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948555" y="1545590"/>
            <a:ext cx="1327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ERR.F &gt;100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6161405" y="1545590"/>
            <a:ext cx="182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1&lt; ERR.F &lt;100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126730" y="1545590"/>
            <a:ext cx="182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ERR.F &lt;1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 rot="5400000">
            <a:off x="3211195" y="3369310"/>
            <a:ext cx="1593850" cy="2051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278505" y="4579620"/>
            <a:ext cx="1327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HUMAN operation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 rot="5400000">
            <a:off x="4972685" y="3768725"/>
            <a:ext cx="805815" cy="1949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814570" y="4579620"/>
            <a:ext cx="1461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set and run optimization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55090" y="93980"/>
            <a:ext cx="1647825" cy="659003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40175" y="1244600"/>
            <a:ext cx="2293620" cy="42919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3795" y="1244600"/>
            <a:ext cx="5871210" cy="4288790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 flipV="1">
            <a:off x="2420620" y="3583940"/>
            <a:ext cx="1485900" cy="189103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270375" y="5848985"/>
            <a:ext cx="6379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Lens data are stored in the </a:t>
            </a:r>
            <a:r>
              <a:rPr lang="en-US" altLang="zh-CN"/>
              <a:t>‘state library’</a:t>
            </a:r>
            <a:r>
              <a:rPr lang="zh-CN" altLang="en-US"/>
              <a:t> (except the blue </a:t>
            </a:r>
            <a:r>
              <a:rPr lang="en-US" altLang="zh-CN"/>
              <a:t>SAV state</a:t>
            </a:r>
            <a:r>
              <a:rPr lang="zh-CN" altLang="en-US"/>
              <a:t>, whose corresponding local files already exist by default)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What can this be used for?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 sz="2800">
                <a:solidFill>
                  <a:schemeClr val="tx1"/>
                </a:solidFill>
              </a:rPr>
              <a:t>Case 1: Analyze the direct effect of different distortion-constraint strategies on lens thickness</a:t>
            </a:r>
            <a:endParaRPr lang="zh-CN" altLang="en-US" sz="2800">
              <a:solidFill>
                <a:schemeClr val="tx1"/>
              </a:solidFill>
            </a:endParaRPr>
          </a:p>
          <a:p>
            <a:endParaRPr lang="zh-CN" altLang="en-US" sz="2800">
              <a:solidFill>
                <a:schemeClr val="tx1"/>
              </a:solidFill>
            </a:endParaRPr>
          </a:p>
          <a:p>
            <a:r>
              <a:rPr lang="zh-CN" altLang="en-US" sz="2800">
                <a:solidFill>
                  <a:schemeClr val="tx1"/>
                </a:solidFill>
              </a:rPr>
              <a:t>Case 2: Review an unsuccessful optimization route, identify the key operation step, and obtain a better design</a:t>
            </a:r>
            <a:endParaRPr lang="zh-CN" altLang="en-US" sz="2800">
              <a:solidFill>
                <a:schemeClr val="tx1"/>
              </a:solidFill>
            </a:endParaRPr>
          </a:p>
          <a:p>
            <a:endParaRPr lang="zh-CN" altLang="en-US" sz="2800">
              <a:solidFill>
                <a:schemeClr val="tx1"/>
              </a:solidFill>
            </a:endParaRPr>
          </a:p>
          <a:p>
            <a:r>
              <a:rPr lang="zh-CN" altLang="en-US" sz="2800">
                <a:solidFill>
                  <a:schemeClr val="tx1"/>
                </a:solidFill>
              </a:rPr>
              <a:t>Case 3: Analyze the evolution of </a:t>
            </a:r>
            <a:r>
              <a:rPr lang="en-US" altLang="zh-CN" sz="2800">
                <a:solidFill>
                  <a:schemeClr val="tx1"/>
                </a:solidFill>
              </a:rPr>
              <a:t>L3L4</a:t>
            </a:r>
            <a:r>
              <a:rPr lang="zh-CN" altLang="en-US" sz="2800">
                <a:solidFill>
                  <a:schemeClr val="tx1"/>
                </a:solidFill>
              </a:rPr>
              <a:t> in the optimization history and quantify the 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mechanism behind the glass-material swap</a:t>
            </a:r>
            <a:endParaRPr lang="zh-CN" altLang="en-US" sz="2800"/>
          </a:p>
          <a:p>
            <a:endParaRPr lang="zh-CN" altLang="en-US" sz="28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800"/>
          </a:p>
          <a:p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Case 1: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Effect of distortion-constraint strategy on lens thickness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8330" y="1607185"/>
            <a:ext cx="3578225" cy="51009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34840" y="1473835"/>
            <a:ext cx="69411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1. </a:t>
            </a:r>
            <a:r>
              <a:rPr lang="zh-CN" altLang="en-US" sz="2400"/>
              <a:t>During trajectory review, </a:t>
            </a:r>
            <a:r>
              <a:rPr lang="en-US" altLang="zh-CN" sz="2400"/>
              <a:t>GPT </a:t>
            </a:r>
            <a:r>
              <a:rPr lang="zh-CN" altLang="en-US" sz="2400"/>
              <a:t>identified a clear change in designer behavior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4886325" y="2279015"/>
            <a:ext cx="3745865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zh-CN" sz="2000"/>
              <a:t>ST000006 (</a:t>
            </a:r>
            <a:r>
              <a:rPr lang="zh-CN" altLang="en-US" sz="2000"/>
              <a:t>initial spherical structure of this route</a:t>
            </a:r>
            <a:r>
              <a:rPr lang="en-US" altLang="zh-CN" sz="2000"/>
              <a:t>)</a:t>
            </a:r>
            <a:endParaRPr lang="en-US" altLang="zh-CN" sz="2000"/>
          </a:p>
        </p:txBody>
      </p:sp>
      <p:sp>
        <p:nvSpPr>
          <p:cNvPr id="6" name="文本框 5"/>
          <p:cNvSpPr txBox="1"/>
          <p:nvPr/>
        </p:nvSpPr>
        <p:spPr>
          <a:xfrm>
            <a:off x="4866005" y="3429000"/>
            <a:ext cx="440436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sz="2000"/>
              <a:t>Convert all lens surfaces to </a:t>
            </a:r>
            <a:r>
              <a:rPr lang="en-US" altLang="zh-CN" sz="2000"/>
              <a:t>Qcon</a:t>
            </a:r>
            <a:r>
              <a:rPr lang="zh-CN" altLang="en-US" sz="2000"/>
              <a:t> aspheres</a:t>
            </a:r>
            <a:endParaRPr lang="zh-CN" altLang="en-US" sz="20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6627495" y="2829560"/>
            <a:ext cx="8255" cy="6400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886325" y="4368800"/>
            <a:ext cx="440436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sz="2000"/>
              <a:t>Reduce </a:t>
            </a:r>
            <a:r>
              <a:rPr lang="en-US" altLang="zh-CN" sz="2000"/>
              <a:t>F</a:t>
            </a:r>
            <a:r>
              <a:rPr lang="zh-CN" altLang="en-US" sz="2000"/>
              <a:t># and run automatic optimization</a:t>
            </a:r>
            <a:endParaRPr lang="zh-CN" altLang="en-US" sz="20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6635750" y="3858895"/>
            <a:ext cx="8255" cy="6400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 rot="5400000">
            <a:off x="6234430" y="4933315"/>
            <a:ext cx="79375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sz="2000" b="1"/>
              <a:t>.  .  .</a:t>
            </a:r>
            <a:endParaRPr lang="en-US" sz="2000" b="1"/>
          </a:p>
        </p:txBody>
      </p:sp>
      <p:sp>
        <p:nvSpPr>
          <p:cNvPr id="11" name="文本框 10"/>
          <p:cNvSpPr txBox="1"/>
          <p:nvPr/>
        </p:nvSpPr>
        <p:spPr>
          <a:xfrm>
            <a:off x="4876165" y="5379720"/>
            <a:ext cx="440436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000"/>
              <a:t>From </a:t>
            </a:r>
            <a:r>
              <a:rPr lang="en-US" altLang="zh-CN" sz="2000"/>
              <a:t>F3.4</a:t>
            </a:r>
            <a:r>
              <a:rPr lang="zh-CN" altLang="en-US" sz="2000"/>
              <a:t>,</a:t>
            </a:r>
            <a:r>
              <a:rPr lang="en-US" altLang="zh-CN" sz="2000"/>
              <a:t>ST000015</a:t>
            </a:r>
            <a:r>
              <a:rPr lang="zh-CN" altLang="en-US" sz="2000"/>
              <a:t> onward, freeze all variables except the last lens </a:t>
            </a:r>
            <a:r>
              <a:rPr lang="en-US" altLang="zh-CN" sz="2000"/>
              <a:t>L6</a:t>
            </a:r>
            <a:r>
              <a:rPr lang="zh-CN" altLang="en-US" sz="2000"/>
              <a:t>, and reduce the center-thickness constraint from </a:t>
            </a:r>
            <a:r>
              <a:rPr lang="en-US" altLang="zh-CN" sz="2000"/>
              <a:t>2.4</a:t>
            </a:r>
            <a:r>
              <a:rPr lang="zh-CN" altLang="en-US" sz="2000"/>
              <a:t> to </a:t>
            </a:r>
            <a:r>
              <a:rPr lang="en-US" altLang="zh-CN" sz="2000"/>
              <a:t>1.8</a:t>
            </a:r>
            <a:endParaRPr lang="en-US" altLang="zh-CN" sz="20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Case 1: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Effect of distortion-constraint strategy on lens thickness</a:t>
            </a:r>
            <a:endParaRPr lang="zh-CN" altLang="en-US"/>
          </a:p>
        </p:txBody>
      </p:sp>
      <p:pic>
        <p:nvPicPr>
          <p:cNvPr id="12" name="图片 11" descr="ST0000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485900"/>
            <a:ext cx="6990715" cy="52431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778750" y="2317115"/>
            <a:ext cx="40811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Inspect </a:t>
            </a:r>
            <a:r>
              <a:rPr lang="en-US" altLang="zh-CN" sz="2400"/>
              <a:t>ST000015</a:t>
            </a:r>
            <a:r>
              <a:rPr lang="zh-CN" altLang="en-US" sz="2400"/>
              <a:t>: the last lens is extremely thick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Case 1: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Effect of distortion-constraint strategy on lens thickness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0410" y="1627505"/>
            <a:ext cx="2349500" cy="46507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85630" y="1627505"/>
            <a:ext cx="1885950" cy="48463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090545" y="1473835"/>
            <a:ext cx="67805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2. </a:t>
            </a:r>
            <a:r>
              <a:rPr lang="zh-CN" altLang="en-US" sz="2400"/>
              <a:t>Compare the distortion-constraint strategies of two routes</a:t>
            </a:r>
            <a:endParaRPr lang="zh-CN" altLang="en-US" sz="2400"/>
          </a:p>
        </p:txBody>
      </p:sp>
      <p:graphicFrame>
        <p:nvGraphicFramePr>
          <p:cNvPr id="15" name="表格 14"/>
          <p:cNvGraphicFramePr/>
          <p:nvPr/>
        </p:nvGraphicFramePr>
        <p:xfrm>
          <a:off x="3086735" y="2206625"/>
          <a:ext cx="6400801" cy="342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/>
                <a:gridCol w="1115696"/>
                <a:gridCol w="1609090"/>
                <a:gridCol w="1187450"/>
                <a:gridCol w="18154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Route </a:t>
                      </a:r>
                      <a:r>
                        <a:rPr lang="en-US" altLang="zh-CN"/>
                        <a:t>1(</a:t>
                      </a:r>
                      <a:r>
                        <a:rPr lang="zh-CN" altLang="en-US"/>
                        <a:t>initial distortion</a:t>
                      </a:r>
                      <a:r>
                        <a:rPr lang="en-US" altLang="zh-CN"/>
                        <a:t>=0.07)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Route </a:t>
                      </a:r>
                      <a:r>
                        <a:rPr lang="en-US" altLang="zh-CN"/>
                        <a:t>2(</a:t>
                      </a:r>
                      <a:r>
                        <a:rPr lang="zh-CN" altLang="en-US"/>
                        <a:t>initial distortion</a:t>
                      </a:r>
                      <a:r>
                        <a:rPr lang="en-US" altLang="zh-CN"/>
                        <a:t>=0.12)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r>
                        <a:rPr lang="zh-CN" altLang="en-US"/>
                        <a:t>#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DST</a:t>
                      </a:r>
                      <a:r>
                        <a:rPr lang="zh-CN" altLang="en-US"/>
                        <a:t> constraint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L6_CT/TTL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DST</a:t>
                      </a:r>
                      <a:r>
                        <a:rPr lang="zh-CN" altLang="en-US"/>
                        <a:t> constraint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L6_CT/TTL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&lt;0.05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12.18%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&lt;0.12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7.41%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3.8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&lt;0.03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13.55%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&lt;0.11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7.52%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3.6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&lt;0.01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15.33%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&lt;0.10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8.05%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&lt;0.008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16.85%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&lt;0.09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8.62%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&lt;3.4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3"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Manual thickness repair begins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3"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Normal optimization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3.0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gridSpan="2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&lt;0.06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10.76%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1.7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gridSpan="2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&lt;0.005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7.41%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680210" y="1774190"/>
            <a:ext cx="130937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Route </a:t>
            </a:r>
            <a:r>
              <a:rPr lang="en-US" altLang="zh-CN" sz="2400"/>
              <a:t>1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10320020" y="1784350"/>
            <a:ext cx="143129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Route </a:t>
            </a:r>
            <a:r>
              <a:rPr lang="en-US" altLang="zh-CN" sz="2400"/>
              <a:t>2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3594735" y="6397625"/>
            <a:ext cx="5541645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400"/>
              <a:t>Problem: the initial states are different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0410" y="1627505"/>
            <a:ext cx="2349500" cy="46507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4565" y="1627505"/>
            <a:ext cx="2127250" cy="47536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Case 1: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Effect of distortion-constraint strategy on lens thickness</a:t>
            </a:r>
            <a:endParaRPr lang="zh-CN" altLang="en-US"/>
          </a:p>
        </p:txBody>
      </p:sp>
      <p:graphicFrame>
        <p:nvGraphicFramePr>
          <p:cNvPr id="15" name="表格 14"/>
          <p:cNvGraphicFramePr/>
          <p:nvPr/>
        </p:nvGraphicFramePr>
        <p:xfrm>
          <a:off x="3015615" y="1868170"/>
          <a:ext cx="6718935" cy="381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6755"/>
                <a:gridCol w="1170940"/>
                <a:gridCol w="1689100"/>
                <a:gridCol w="1246505"/>
                <a:gridCol w="19056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Route </a:t>
                      </a:r>
                      <a:r>
                        <a:rPr lang="en-US" altLang="zh-CN"/>
                        <a:t>1(</a:t>
                      </a:r>
                      <a:r>
                        <a:rPr lang="zh-CN" altLang="en-US"/>
                        <a:t>initial distortion</a:t>
                      </a:r>
                      <a:r>
                        <a:rPr lang="en-US" altLang="zh-CN"/>
                        <a:t>=0.07)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Control route</a:t>
                      </a:r>
                      <a:r>
                        <a:rPr lang="en-US" altLang="zh-CN"/>
                        <a:t>(</a:t>
                      </a:r>
                      <a:r>
                        <a:rPr lang="zh-CN" altLang="en-US"/>
                        <a:t>same initial structure</a:t>
                      </a:r>
                      <a:r>
                        <a:rPr lang="en-US" altLang="zh-CN"/>
                        <a:t>)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r>
                        <a:rPr lang="zh-CN" altLang="en-US"/>
                        <a:t>#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DST</a:t>
                      </a:r>
                      <a:r>
                        <a:rPr lang="zh-CN" altLang="en-US"/>
                        <a:t> constraint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L6_CT/TTL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DST</a:t>
                      </a:r>
                      <a:r>
                        <a:rPr lang="zh-CN" altLang="en-US"/>
                        <a:t> constraint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L6_CT/TTL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&lt;0.05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12.18%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&lt;0.07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11.69%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3.8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&lt;0.03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13.55%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&lt;0.07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12.39%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3.6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&lt;0.01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15.33%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&lt;0.07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13.36%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&lt;0.008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16.85%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&lt;0.06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14.12%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&lt;3.4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4"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Manual thickness repair begins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4"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Normal optimization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3.0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gridSpan="2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&lt;0.06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15.26%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2.4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gridSpan="2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&lt;0.06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15.76%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&lt;2.4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gridSpan="2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Manual thickness repair begins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605280" y="1774190"/>
            <a:ext cx="1410335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Route </a:t>
            </a:r>
            <a:r>
              <a:rPr lang="en-US" altLang="zh-CN" sz="2400"/>
              <a:t>1</a:t>
            </a:r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10418445" y="1683385"/>
            <a:ext cx="144653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Control route</a:t>
            </a:r>
            <a:endParaRPr lang="en-US" altLang="zh-CN" sz="2400"/>
          </a:p>
        </p:txBody>
      </p:sp>
      <p:sp>
        <p:nvSpPr>
          <p:cNvPr id="14" name="文本框 13"/>
          <p:cNvSpPr txBox="1"/>
          <p:nvPr/>
        </p:nvSpPr>
        <p:spPr>
          <a:xfrm>
            <a:off x="3015615" y="1505585"/>
            <a:ext cx="7288530" cy="3987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3. </a:t>
            </a:r>
            <a:r>
              <a:rPr lang="zh-CN" altLang="en-US" sz="2000"/>
              <a:t>Actively design a controlled experiment</a:t>
            </a:r>
            <a:endParaRPr lang="zh-CN" altLang="en-US" sz="2000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Case 1: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Effect of distortion-constraint strategy on lens thickness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13170" y="1544955"/>
            <a:ext cx="5264785" cy="15684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step1</a:t>
            </a:r>
            <a:r>
              <a:rPr lang="zh-CN" altLang="en-US" sz="2400"/>
              <a:t>: During review, </a:t>
            </a:r>
            <a:r>
              <a:rPr lang="en-US" altLang="zh-CN" sz="2400"/>
              <a:t>GPT</a:t>
            </a:r>
            <a:r>
              <a:rPr lang="zh-CN" altLang="en-US" sz="2400"/>
              <a:t>identified a clear change in the designer’s operation logic, revealing that the last lens was rapidly thickening during optimization.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6313170" y="3496945"/>
            <a:ext cx="5264785" cy="8299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step2</a:t>
            </a:r>
            <a:r>
              <a:rPr lang="zh-CN" altLang="en-US" sz="2400"/>
              <a:t>: Ask </a:t>
            </a:r>
            <a:r>
              <a:rPr lang="en-US" altLang="zh-CN" sz="2400"/>
              <a:t>GPT</a:t>
            </a:r>
            <a:r>
              <a:rPr lang="zh-CN" altLang="en-US" sz="2400"/>
              <a:t>to compare two historical optimization routes and identify different distortion-constraint strategies.</a:t>
            </a:r>
            <a:endParaRPr lang="zh-CN" altLang="en-US" sz="240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8870315" y="3004185"/>
            <a:ext cx="8255" cy="6400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333490" y="4992370"/>
            <a:ext cx="5738495" cy="15684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step3</a:t>
            </a:r>
            <a:r>
              <a:rPr lang="zh-CN" altLang="en-US" sz="2400"/>
              <a:t>：</a:t>
            </a:r>
            <a:r>
              <a:rPr lang="zh-CN" sz="2400"/>
              <a:t>Design a controlled-route experiment to test the idea and formulate a data-supported hypothesis that can later be supported</a:t>
            </a:r>
            <a:r>
              <a:rPr lang="en-US" altLang="zh-CN" sz="2400"/>
              <a:t>/</a:t>
            </a:r>
            <a:r>
              <a:rPr lang="zh-CN" altLang="en-US" sz="2400"/>
              <a:t>rejected</a:t>
            </a:r>
            <a:r>
              <a:rPr lang="en-US" altLang="zh-CN" sz="2400"/>
              <a:t>/</a:t>
            </a:r>
            <a:r>
              <a:rPr lang="zh-CN" altLang="en-US" sz="2400"/>
              <a:t>refined.</a:t>
            </a:r>
            <a:endParaRPr lang="zh-CN" altLang="en-US" sz="24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8870315" y="4498340"/>
            <a:ext cx="8255" cy="6400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2280" y="2931160"/>
            <a:ext cx="1465580" cy="29025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52345" y="2917825"/>
            <a:ext cx="1126490" cy="28962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914140" y="2927985"/>
            <a:ext cx="1301115" cy="2908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14140" y="5949950"/>
            <a:ext cx="144653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Control route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2250440" y="5959475"/>
            <a:ext cx="1158875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Route </a:t>
            </a:r>
            <a:r>
              <a:rPr lang="en-US" altLang="zh-CN" sz="2400"/>
              <a:t>2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28650" y="5949950"/>
            <a:ext cx="1158875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Route </a:t>
            </a:r>
            <a:r>
              <a:rPr lang="en-US" altLang="zh-CN" sz="2400"/>
              <a:t>1</a:t>
            </a:r>
            <a:endParaRPr lang="en-US" altLang="zh-CN" sz="2400"/>
          </a:p>
        </p:txBody>
      </p:sp>
      <p:sp>
        <p:nvSpPr>
          <p:cNvPr id="14" name="文本框 13"/>
          <p:cNvSpPr txBox="1"/>
          <p:nvPr/>
        </p:nvSpPr>
        <p:spPr>
          <a:xfrm>
            <a:off x="628650" y="1544955"/>
            <a:ext cx="5313045" cy="14592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400"/>
              <a:t>Hypothesis: </a:t>
            </a:r>
            <a:r>
              <a:rPr lang="zh-CN" sz="2400"/>
              <a:t>Tightening the distortion constraint too early can cause the last lens to thicken prematurely if the structure already has this tendency.</a:t>
            </a:r>
            <a:endParaRPr lang="zh-CN" altLang="en-US" sz="2400"/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historical be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030" y="422275"/>
            <a:ext cx="4246880" cy="38633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67030" y="431800"/>
            <a:ext cx="4769485" cy="1476375"/>
          </a:xfrm>
        </p:spPr>
        <p:txBody>
          <a:bodyPr>
            <a:normAutofit fontScale="90000"/>
          </a:bodyPr>
          <a:p>
            <a:r>
              <a:rPr lang="zh-CN" altLang="en-US"/>
              <a:t>Case 2: Recover a forgotten optimization process and obtain a better design</a:t>
            </a:r>
            <a:endParaRPr lang="zh-CN" altLang="en-US"/>
          </a:p>
        </p:txBody>
      </p:sp>
      <p:pic>
        <p:nvPicPr>
          <p:cNvPr id="8" name="图片 8" descr="S10_initial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275" y="2680970"/>
            <a:ext cx="3742055" cy="2809240"/>
          </a:xfrm>
          <a:prstGeom prst="rect">
            <a:avLst/>
          </a:prstGeom>
        </p:spPr>
      </p:pic>
      <p:pic>
        <p:nvPicPr>
          <p:cNvPr id="6" name="图片 5" descr="family 03_fin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0" y="3101975"/>
            <a:ext cx="5029835" cy="375602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3240405" y="2306955"/>
            <a:ext cx="2026920" cy="1352550"/>
          </a:xfrm>
          <a:prstGeom prst="straightConnector1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dash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97840" y="3060700"/>
            <a:ext cx="1862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Initial spherical structure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43825" y="1104900"/>
            <a:ext cx="2129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A historical best design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2650" y="355092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A </a:t>
            </a:r>
            <a:r>
              <a:rPr lang="en-US" altLang="zh-CN">
                <a:solidFill>
                  <a:schemeClr val="accent2"/>
                </a:solidFill>
              </a:rPr>
              <a:t>‘</a:t>
            </a:r>
            <a:r>
              <a:rPr lang="zh-CN" altLang="en-US">
                <a:solidFill>
                  <a:schemeClr val="accent2"/>
                </a:solidFill>
              </a:rPr>
              <a:t>nearly successful</a:t>
            </a:r>
            <a:r>
              <a:rPr lang="en-US" altLang="zh-CN">
                <a:solidFill>
                  <a:schemeClr val="accent2"/>
                </a:solidFill>
              </a:rPr>
              <a:t>’</a:t>
            </a:r>
            <a:r>
              <a:rPr lang="zh-CN" altLang="en-US">
                <a:solidFill>
                  <a:schemeClr val="accent2"/>
                </a:solidFill>
              </a:rPr>
              <a:t> route</a:t>
            </a:r>
            <a:endParaRPr lang="zh-CN" altLang="en-US">
              <a:solidFill>
                <a:schemeClr val="accent2"/>
              </a:solidFill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5"/>
            </p:custDataLst>
          </p:nvPr>
        </p:nvGraphicFramePr>
        <p:xfrm>
          <a:off x="5298440" y="102870"/>
          <a:ext cx="2446020" cy="2990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010"/>
                <a:gridCol w="1223010"/>
              </a:tblGrid>
              <a:tr h="320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</a:t>
                      </a:r>
                      <a:r>
                        <a:rPr lang="zh-CN" altLang="en-US" sz="1200"/>
                        <a:t>#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1.7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EFL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12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TTL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13.5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Max. field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3.21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Distortion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&lt; 0.16%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MTF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0.4 @ 300 lp/mm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Strehl ratio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0.59 @ </a:t>
                      </a:r>
                      <a:r>
                        <a:rPr lang="zh-CN" altLang="en-US" sz="1200"/>
                        <a:t>Max. field</a:t>
                      </a:r>
                      <a:r>
                        <a:rPr lang="en-US" altLang="zh-CN" sz="1200"/>
                        <a:t>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Relative illumination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&gt; 0.85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6"/>
            </p:custDataLst>
          </p:nvPr>
        </p:nvGraphicFramePr>
        <p:xfrm>
          <a:off x="4796790" y="3677285"/>
          <a:ext cx="2446020" cy="2990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010"/>
                <a:gridCol w="1223010"/>
              </a:tblGrid>
              <a:tr h="320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</a:t>
                      </a:r>
                      <a:r>
                        <a:rPr lang="zh-CN" altLang="en-US" sz="1200"/>
                        <a:t>#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1.7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EFL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12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TTL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13.5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Max. field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3.21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Distortion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&lt; 2.5%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MTF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0.48 @ 300 lp/mm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Strehl ratio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0.72 @ </a:t>
                      </a:r>
                      <a:r>
                        <a:rPr lang="zh-CN" altLang="en-US" sz="1200"/>
                        <a:t>Max. field</a:t>
                      </a:r>
                      <a:r>
                        <a:rPr lang="en-US" altLang="zh-CN" sz="1200"/>
                        <a:t>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Relative illumination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&gt; 0.95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3199130" y="4232275"/>
            <a:ext cx="1605280" cy="88836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009505" y="1104900"/>
            <a:ext cx="152844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STOP = 0.1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9873615" y="3550920"/>
            <a:ext cx="152844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STOP = - 0.3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Case 2: Recover a forgotten optimization process through trajectory review</a:t>
            </a:r>
            <a:endParaRPr lang="zh-CN" altLang="en-US"/>
          </a:p>
        </p:txBody>
      </p:sp>
      <p:pic>
        <p:nvPicPr>
          <p:cNvPr id="6" name="图片 5" descr="Screenshot 2026-10-13 19470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1360" y="1597660"/>
            <a:ext cx="5163185" cy="47510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1360" y="1587500"/>
            <a:ext cx="4926965" cy="1198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400"/>
              <a:t>Identify the key operation order: glass swap</a:t>
            </a:r>
            <a:r>
              <a:rPr lang="en-US" altLang="zh-CN" sz="2400"/>
              <a:t> → convert sphere to Qcon → </a:t>
            </a:r>
            <a:r>
              <a:rPr lang="zh-CN" altLang="en-US" sz="2400"/>
              <a:t>optimize</a:t>
            </a:r>
            <a:endParaRPr lang="zh-CN" altLang="en-US" sz="2400"/>
          </a:p>
        </p:txBody>
      </p:sp>
      <p:pic>
        <p:nvPicPr>
          <p:cNvPr id="8" name="图片 7" descr="ST0000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1852930"/>
            <a:ext cx="6440170" cy="44958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717280" y="2877820"/>
            <a:ext cx="6965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chemeClr val="accent2"/>
                </a:solidFill>
              </a:rPr>
              <a:t>S7</a:t>
            </a:r>
            <a:endParaRPr lang="en-US" b="1">
              <a:solidFill>
                <a:schemeClr val="accent2"/>
              </a:solidFill>
            </a:endParaRPr>
          </a:p>
          <a:p>
            <a:r>
              <a:rPr lang="en-US" b="1">
                <a:solidFill>
                  <a:schemeClr val="accent2"/>
                </a:solidFill>
              </a:rPr>
              <a:t>↓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47480" y="2882900"/>
            <a:ext cx="6965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chemeClr val="accent2"/>
                </a:solidFill>
              </a:rPr>
              <a:t>S9</a:t>
            </a:r>
            <a:endParaRPr lang="en-US" b="1">
              <a:solidFill>
                <a:schemeClr val="accent2"/>
              </a:solidFill>
            </a:endParaRPr>
          </a:p>
          <a:p>
            <a:r>
              <a:rPr lang="en-US" b="1">
                <a:solidFill>
                  <a:schemeClr val="accent2"/>
                </a:solidFill>
              </a:rPr>
              <a:t>↓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49010" y="4789170"/>
            <a:ext cx="535051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/>
              <a:t>Before swap: </a:t>
            </a:r>
            <a:r>
              <a:rPr lang="en-US" altLang="zh-CN"/>
              <a:t>S7 n=1.55, v=55.82; S9 n=1.68, v=19.24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>
                <a:sym typeface="+mn-ea"/>
              </a:rPr>
              <a:t>After swap: </a:t>
            </a:r>
            <a:r>
              <a:rPr lang="en-US" altLang="zh-CN">
                <a:sym typeface="+mn-ea"/>
              </a:rPr>
              <a:t>S7 n=1.68, v=19.24; S9 n=1.55, v=55.82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096000" y="2279015"/>
            <a:ext cx="3996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After </a:t>
            </a:r>
            <a:r>
              <a:rPr lang="en-US" altLang="zh-CN">
                <a:solidFill>
                  <a:schemeClr val="accent2"/>
                </a:solidFill>
              </a:rPr>
              <a:t>L1L2</a:t>
            </a:r>
            <a:r>
              <a:rPr lang="zh-CN" altLang="en-US">
                <a:solidFill>
                  <a:schemeClr val="accent2"/>
                </a:solidFill>
              </a:rPr>
              <a:t> lens merge: spherical structure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2026-10-13 1958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5" y="1896745"/>
            <a:ext cx="3838575" cy="4895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Case 2: Recover a forgotten optimization process through trajectory review</a:t>
            </a:r>
            <a:endParaRPr lang="zh-CN" altLang="en-US"/>
          </a:p>
        </p:txBody>
      </p:sp>
      <p:pic>
        <p:nvPicPr>
          <p:cNvPr id="4" name="图片 3" descr="aut then sw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195" y="1646555"/>
            <a:ext cx="6694170" cy="515810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5027295" y="3429000"/>
          <a:ext cx="2446020" cy="2990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010"/>
                <a:gridCol w="1223010"/>
              </a:tblGrid>
              <a:tr h="320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</a:t>
                      </a:r>
                      <a:r>
                        <a:rPr lang="zh-CN" altLang="en-US" sz="1200"/>
                        <a:t>#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1.7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EFL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12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TTL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14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Max. field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3.21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Distortion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&lt; 0.2%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MTF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0.48 @ 300 lp/mm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Strehl ratio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0.74 @ </a:t>
                      </a:r>
                      <a:r>
                        <a:rPr lang="zh-CN" altLang="en-US" sz="1200"/>
                        <a:t>Max. field</a:t>
                      </a:r>
                      <a:r>
                        <a:rPr lang="en-US" altLang="zh-CN" sz="1200"/>
                        <a:t>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Relative illumination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&gt; 0.89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762625" y="218757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accent2"/>
                </a:solidFill>
              </a:rPr>
              <a:t>Final successful route</a:t>
            </a:r>
            <a:endParaRPr lang="zh-CN">
              <a:solidFill>
                <a:schemeClr val="accent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45170" y="2491105"/>
            <a:ext cx="152844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STOP = 0.1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21360" y="1587500"/>
            <a:ext cx="5041265" cy="11423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sz="2400"/>
              <a:t>Change the operation order: </a:t>
            </a:r>
            <a:r>
              <a:rPr lang="en-US" altLang="zh-CN" sz="2400"/>
              <a:t>convert sphere to Qcon → </a:t>
            </a:r>
            <a:r>
              <a:rPr lang="zh-CN" altLang="en-US" sz="2400"/>
              <a:t>optimize</a:t>
            </a:r>
            <a:r>
              <a:rPr lang="en-US" altLang="zh-CN" sz="2400"/>
              <a:t> → </a:t>
            </a:r>
            <a:r>
              <a:rPr lang="zh-CN" altLang="en-US" sz="2400"/>
              <a:t>glass swap</a:t>
            </a:r>
            <a:r>
              <a:rPr lang="en-US" altLang="zh-CN" sz="2400"/>
              <a:t> → </a:t>
            </a:r>
            <a:r>
              <a:rPr lang="zh-CN" altLang="en-US" sz="2400"/>
              <a:t>optimize</a:t>
            </a:r>
            <a:endParaRPr lang="zh-CN" altLang="en-US" sz="2400"/>
          </a:p>
        </p:txBody>
      </p: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 descr="aut then sw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295" y="0"/>
            <a:ext cx="4984750" cy="3841750"/>
          </a:xfrm>
          <a:prstGeom prst="rect">
            <a:avLst/>
          </a:prstGeom>
        </p:spPr>
      </p:pic>
      <p:pic>
        <p:nvPicPr>
          <p:cNvPr id="20" name="图片 19" descr="ST0003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370" y="2707640"/>
            <a:ext cx="5420995" cy="41503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330" y="608330"/>
            <a:ext cx="5001895" cy="705485"/>
          </a:xfrm>
        </p:spPr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Case 3: Analyze the mechanism behind the glass swap</a:t>
            </a:r>
            <a:endParaRPr lang="zh-CN" altLang="en-US"/>
          </a:p>
        </p:txBody>
      </p:sp>
      <p:pic>
        <p:nvPicPr>
          <p:cNvPr id="8" name="图片 7" descr="ST0000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65" y="2222500"/>
            <a:ext cx="5186045" cy="36214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533650" y="3203575"/>
            <a:ext cx="6965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chemeClr val="accent2"/>
                </a:solidFill>
              </a:rPr>
              <a:t>L3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35910" y="3203575"/>
            <a:ext cx="6965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chemeClr val="accent2"/>
                </a:solidFill>
              </a:rPr>
              <a:t>L4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76870" y="33147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accent2"/>
                </a:solidFill>
              </a:rPr>
              <a:t>Final successful route</a:t>
            </a:r>
            <a:endParaRPr lang="zh-CN">
              <a:solidFill>
                <a:schemeClr val="accent2"/>
              </a:solidFill>
            </a:endParaRPr>
          </a:p>
        </p:txBody>
      </p:sp>
      <p:cxnSp>
        <p:nvCxnSpPr>
          <p:cNvPr id="15" name="直接箭头连接符 14"/>
          <p:cNvCxnSpPr>
            <a:endCxn id="5" idx="1"/>
          </p:cNvCxnSpPr>
          <p:nvPr/>
        </p:nvCxnSpPr>
        <p:spPr>
          <a:xfrm flipV="1">
            <a:off x="3857625" y="1358265"/>
            <a:ext cx="1673225" cy="210121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88205" y="4014470"/>
            <a:ext cx="1501775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/>
              <a:t>No swap</a:t>
            </a:r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433570" y="4096385"/>
            <a:ext cx="1626235" cy="10293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098925" y="1512570"/>
            <a:ext cx="1282065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/>
              <a:t>glass swap</a:t>
            </a:r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5"/>
            </p:custDataLst>
          </p:nvPr>
        </p:nvGraphicFramePr>
        <p:xfrm>
          <a:off x="6139180" y="3698875"/>
          <a:ext cx="2446020" cy="2990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010"/>
                <a:gridCol w="1223010"/>
              </a:tblGrid>
              <a:tr h="320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</a:t>
                      </a:r>
                      <a:r>
                        <a:rPr lang="zh-CN" altLang="en-US" sz="1200"/>
                        <a:t>#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1.7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EFL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12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TTL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13.5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Max. field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3.21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Distortion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&lt; 6%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MTF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0.25 @ 300 lp/mm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Strehl ratio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0.48 @ </a:t>
                      </a:r>
                      <a:r>
                        <a:rPr lang="zh-CN" altLang="en-US" sz="1200"/>
                        <a:t>Max. field</a:t>
                      </a:r>
                      <a:r>
                        <a:rPr lang="en-US" altLang="zh-CN" sz="1200"/>
                        <a:t>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Relative illumination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&gt; 0.6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6968490" y="309118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accent2"/>
                </a:solidFill>
              </a:rPr>
              <a:t>A failed route</a:t>
            </a:r>
            <a:endParaRPr lang="zh-CN">
              <a:solidFill>
                <a:schemeClr val="accent2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6"/>
            </p:custDataLst>
          </p:nvPr>
        </p:nvGraphicFramePr>
        <p:xfrm>
          <a:off x="5530850" y="50165"/>
          <a:ext cx="2528570" cy="261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4285"/>
                <a:gridCol w="1264285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F</a:t>
                      </a:r>
                      <a:r>
                        <a:rPr lang="zh-CN" altLang="en-US" sz="1200"/>
                        <a:t>#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1.7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EFL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12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TTL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14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Max. field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3.21 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6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Distortion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&lt; 0.2%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MTF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0.48 @ 300 lp/mm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Strehl ratio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= 0.74 @ </a:t>
                      </a:r>
                      <a:r>
                        <a:rPr lang="zh-CN" altLang="en-US" sz="1200"/>
                        <a:t>Max. field</a:t>
                      </a:r>
                      <a:r>
                        <a:rPr lang="en-US" altLang="zh-CN" sz="1200"/>
                        <a:t>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2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Relative illumination</a:t>
                      </a: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&gt; 0.89 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ST0000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4335" cy="2936240"/>
          </a:xfrm>
          <a:prstGeom prst="rect">
            <a:avLst/>
          </a:prstGeom>
        </p:spPr>
      </p:pic>
      <p:pic>
        <p:nvPicPr>
          <p:cNvPr id="2" name="图片 1" descr="ST0000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1120"/>
            <a:ext cx="4002405" cy="2795270"/>
          </a:xfrm>
          <a:prstGeom prst="rect">
            <a:avLst/>
          </a:prstGeom>
        </p:spPr>
      </p:pic>
      <p:pic>
        <p:nvPicPr>
          <p:cNvPr id="4" name="图片 3" descr="ST2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015" y="0"/>
            <a:ext cx="4162425" cy="2943860"/>
          </a:xfrm>
          <a:prstGeom prst="rect">
            <a:avLst/>
          </a:prstGeom>
        </p:spPr>
      </p:pic>
      <p:pic>
        <p:nvPicPr>
          <p:cNvPr id="5" name="图片 4" descr="ST2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260" y="13970"/>
            <a:ext cx="4131310" cy="2922270"/>
          </a:xfrm>
          <a:prstGeom prst="rect">
            <a:avLst/>
          </a:prstGeom>
        </p:spPr>
      </p:pic>
      <p:pic>
        <p:nvPicPr>
          <p:cNvPr id="6" name="图片 5" descr="ST3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095" y="3858260"/>
            <a:ext cx="4241165" cy="2999740"/>
          </a:xfrm>
          <a:prstGeom prst="rect">
            <a:avLst/>
          </a:prstGeom>
        </p:spPr>
      </p:pic>
      <p:pic>
        <p:nvPicPr>
          <p:cNvPr id="7" name="图片 6" descr="ST3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8925" y="3862070"/>
            <a:ext cx="4271645" cy="302133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83685" y="125730"/>
            <a:ext cx="324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after opening Qcon, F/4.0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1935" y="414401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same initial structure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64830" y="12573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F/3.2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9260" y="398462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F/3.2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02405" y="3984625"/>
            <a:ext cx="324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after opening Qcon, F/4.0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1935" y="26733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same initial structure</a:t>
            </a:r>
            <a:endParaRPr lang="en-US" altLang="zh-CN">
              <a:solidFill>
                <a:schemeClr val="accent2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542030" y="2578735"/>
            <a:ext cx="4889500" cy="152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88840" y="214820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No swap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416935" y="6356985"/>
            <a:ext cx="4889500" cy="152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563745" y="592645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Glass swap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T2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67200" cy="3018155"/>
          </a:xfrm>
          <a:prstGeom prst="rect">
            <a:avLst/>
          </a:prstGeom>
        </p:spPr>
      </p:pic>
      <p:pic>
        <p:nvPicPr>
          <p:cNvPr id="3" name="图片 2" descr="ST2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765" y="0"/>
            <a:ext cx="4268470" cy="3018790"/>
          </a:xfrm>
          <a:prstGeom prst="rect">
            <a:avLst/>
          </a:prstGeom>
        </p:spPr>
      </p:pic>
      <p:pic>
        <p:nvPicPr>
          <p:cNvPr id="4" name="图片 3" descr="ST3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330" y="0"/>
            <a:ext cx="4306570" cy="3046095"/>
          </a:xfrm>
          <a:prstGeom prst="rect">
            <a:avLst/>
          </a:prstGeom>
        </p:spPr>
      </p:pic>
      <p:pic>
        <p:nvPicPr>
          <p:cNvPr id="5" name="图片 4" descr="ST39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5110"/>
            <a:ext cx="3962400" cy="2802890"/>
          </a:xfrm>
          <a:prstGeom prst="rect">
            <a:avLst/>
          </a:prstGeom>
        </p:spPr>
      </p:pic>
      <p:pic>
        <p:nvPicPr>
          <p:cNvPr id="6" name="图片 5" descr="ST4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035" y="4020820"/>
            <a:ext cx="4011295" cy="2837180"/>
          </a:xfrm>
          <a:prstGeom prst="rect">
            <a:avLst/>
          </a:prstGeom>
        </p:spPr>
      </p:pic>
      <p:pic>
        <p:nvPicPr>
          <p:cNvPr id="13" name="图片 12" descr="aut then swa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635" y="3529965"/>
            <a:ext cx="4317365" cy="33280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049260" y="398462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Final F/1.7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49260" y="13779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Final F/1.7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81780" y="13779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F/2.2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" y="7366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F/2.6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00" y="413385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F/2.6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1780" y="413385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2"/>
                </a:solidFill>
              </a:rPr>
              <a:t>F/2.2</a:t>
            </a:r>
            <a:endParaRPr lang="en-US" altLang="zh-CN">
              <a:solidFill>
                <a:schemeClr val="accent2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542030" y="2578735"/>
            <a:ext cx="4889500" cy="152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88840" y="214820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No swap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416935" y="6356985"/>
            <a:ext cx="4889500" cy="152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563745" y="5926455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Glass swap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ray_height_S7_vs_FNO_no_swap_vs_aut_sw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035" y="252095"/>
            <a:ext cx="9819640" cy="63538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No_swap_L2_L34_combined_dual_axi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99060"/>
            <a:ext cx="10811510" cy="6486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71520" y="2296795"/>
            <a:ext cx="387794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800"/>
              <a:t>No-swap optimization route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UT_then_swap_L2_L34_combined_dual_axi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70" y="109220"/>
            <a:ext cx="11180445" cy="67081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91155" y="2907030"/>
            <a:ext cx="3877945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800"/>
              <a:t>Glass-swap optimization route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Achromat-like shape is dominant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5222875" y="2121535"/>
            <a:ext cx="884555" cy="1903730"/>
            <a:chOff x="2073" y="2742"/>
            <a:chExt cx="1393" cy="2998"/>
          </a:xfrm>
        </p:grpSpPr>
        <p:sp>
          <p:nvSpPr>
            <p:cNvPr id="4" name="矩形 3"/>
            <p:cNvSpPr/>
            <p:nvPr/>
          </p:nvSpPr>
          <p:spPr>
            <a:xfrm>
              <a:off x="2333" y="2742"/>
              <a:ext cx="518" cy="2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2073" y="2742"/>
              <a:ext cx="567" cy="299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2446" y="2742"/>
              <a:ext cx="1021" cy="2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1080135" y="1360170"/>
            <a:ext cx="627380" cy="226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08785" y="128968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n=1.68, v=19.24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3686810" y="1360170"/>
            <a:ext cx="627380" cy="226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54195" y="127571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n=1.55, v=55.82</a:t>
            </a:r>
            <a:endParaRPr lang="en-US" altLang="zh-CN"/>
          </a:p>
        </p:txBody>
      </p:sp>
      <p:grpSp>
        <p:nvGrpSpPr>
          <p:cNvPr id="16" name="组合 15"/>
          <p:cNvGrpSpPr/>
          <p:nvPr/>
        </p:nvGrpSpPr>
        <p:grpSpPr>
          <a:xfrm>
            <a:off x="5582285" y="2121535"/>
            <a:ext cx="521970" cy="1903095"/>
            <a:chOff x="4328" y="3574"/>
            <a:chExt cx="768" cy="2729"/>
          </a:xfrm>
        </p:grpSpPr>
        <p:sp>
          <p:nvSpPr>
            <p:cNvPr id="13" name="矩形 12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4328" y="3575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4544" y="3583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30375" y="2114561"/>
            <a:ext cx="521970" cy="1910766"/>
            <a:chOff x="4328" y="3564"/>
            <a:chExt cx="768" cy="2740"/>
          </a:xfrm>
        </p:grpSpPr>
        <p:sp>
          <p:nvSpPr>
            <p:cNvPr id="18" name="矩形 17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4328" y="3575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4544" y="3564"/>
              <a:ext cx="552" cy="27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216025" y="2114488"/>
            <a:ext cx="426720" cy="1904427"/>
            <a:chOff x="4544" y="3573"/>
            <a:chExt cx="552" cy="2731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2" name="矩形 21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4544" y="3573"/>
              <a:ext cx="552" cy="273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5" name="直接箭头连接符 24"/>
          <p:cNvCxnSpPr/>
          <p:nvPr/>
        </p:nvCxnSpPr>
        <p:spPr>
          <a:xfrm>
            <a:off x="2890520" y="3078480"/>
            <a:ext cx="2036445" cy="698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1725295" y="4629859"/>
            <a:ext cx="521970" cy="1910069"/>
            <a:chOff x="4328" y="3565"/>
            <a:chExt cx="768" cy="273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7" name="矩形 26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4328" y="3575"/>
              <a:ext cx="552" cy="27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4544" y="3565"/>
              <a:ext cx="552" cy="273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210945" y="4629088"/>
            <a:ext cx="426720" cy="1904427"/>
            <a:chOff x="4544" y="3573"/>
            <a:chExt cx="552" cy="2731"/>
          </a:xfrm>
          <a:solidFill>
            <a:schemeClr val="accent2"/>
          </a:solidFill>
        </p:grpSpPr>
        <p:sp>
          <p:nvSpPr>
            <p:cNvPr id="31" name="矩形 30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4544" y="3573"/>
              <a:ext cx="552" cy="273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33" name="直接箭头连接符 32"/>
          <p:cNvCxnSpPr/>
          <p:nvPr/>
        </p:nvCxnSpPr>
        <p:spPr>
          <a:xfrm flipV="1">
            <a:off x="2757170" y="3680460"/>
            <a:ext cx="2371725" cy="1764665"/>
          </a:xfrm>
          <a:prstGeom prst="straightConnector1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5862320" y="4636770"/>
            <a:ext cx="884555" cy="1903730"/>
            <a:chOff x="2073" y="2742"/>
            <a:chExt cx="1393" cy="2998"/>
          </a:xfrm>
        </p:grpSpPr>
        <p:sp>
          <p:nvSpPr>
            <p:cNvPr id="35" name="矩形 34"/>
            <p:cNvSpPr/>
            <p:nvPr/>
          </p:nvSpPr>
          <p:spPr>
            <a:xfrm>
              <a:off x="2333" y="2742"/>
              <a:ext cx="518" cy="2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2073" y="2742"/>
              <a:ext cx="567" cy="299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2446" y="2742"/>
              <a:ext cx="1021" cy="2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218574" y="4629796"/>
            <a:ext cx="529446" cy="1910766"/>
            <a:chOff x="4317" y="3564"/>
            <a:chExt cx="779" cy="2740"/>
          </a:xfrm>
        </p:grpSpPr>
        <p:sp>
          <p:nvSpPr>
            <p:cNvPr id="39" name="矩形 38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4317" y="3564"/>
              <a:ext cx="563" cy="27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4544" y="3564"/>
              <a:ext cx="552" cy="27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42" name="直接箭头连接符 41"/>
          <p:cNvCxnSpPr/>
          <p:nvPr/>
        </p:nvCxnSpPr>
        <p:spPr>
          <a:xfrm flipV="1">
            <a:off x="2756535" y="5647055"/>
            <a:ext cx="2281555" cy="2413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809365" y="2625725"/>
            <a:ext cx="1738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easy</a:t>
            </a:r>
            <a:endParaRPr lang="en-US" altLang="zh-CN" sz="2000"/>
          </a:p>
        </p:txBody>
      </p:sp>
      <p:sp>
        <p:nvSpPr>
          <p:cNvPr id="44" name="文本框 43"/>
          <p:cNvSpPr txBox="1"/>
          <p:nvPr/>
        </p:nvSpPr>
        <p:spPr>
          <a:xfrm>
            <a:off x="3267075" y="4130675"/>
            <a:ext cx="1738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hard</a:t>
            </a:r>
            <a:endParaRPr lang="en-US" altLang="zh-CN" sz="2000"/>
          </a:p>
        </p:txBody>
      </p:sp>
      <p:sp>
        <p:nvSpPr>
          <p:cNvPr id="45" name="文本框 44"/>
          <p:cNvSpPr txBox="1"/>
          <p:nvPr/>
        </p:nvSpPr>
        <p:spPr>
          <a:xfrm>
            <a:off x="3392805" y="5214620"/>
            <a:ext cx="1738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easy</a:t>
            </a:r>
            <a:endParaRPr lang="en-US" altLang="zh-CN" sz="2000"/>
          </a:p>
        </p:txBody>
      </p:sp>
      <p:sp>
        <p:nvSpPr>
          <p:cNvPr id="46" name="文本框 45"/>
          <p:cNvSpPr txBox="1"/>
          <p:nvPr/>
        </p:nvSpPr>
        <p:spPr>
          <a:xfrm>
            <a:off x="6410325" y="1313815"/>
            <a:ext cx="571881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A local </a:t>
            </a:r>
            <a:r>
              <a:rPr lang="en-US" altLang="zh-CN" sz="2000"/>
              <a:t>achromat-like </a:t>
            </a:r>
            <a:r>
              <a:rPr lang="zh-CN" altLang="en-US" sz="2000"/>
              <a:t> structure may provide greater “effective structural freedom.” More precisely, this does not increase the number of variables; rather, under global chromatic-aberration and field-curvature constraints, it allows the local group to access a broader set of </a:t>
            </a:r>
            <a:r>
              <a:rPr lang="en-US" altLang="zh-CN" sz="2000"/>
              <a:t>Petzval–Chromat </a:t>
            </a:r>
            <a:r>
              <a:rPr lang="zh-CN" altLang="en-US" sz="2000"/>
              <a:t> feasible combinations. The local group does not need to satisfy </a:t>
            </a:r>
            <a:r>
              <a:rPr lang="en-US" sz="2000"/>
              <a:t>C=0</a:t>
            </a:r>
            <a:r>
              <a:rPr lang="zh-CN" altLang="en-US" sz="2000"/>
              <a:t> or </a:t>
            </a:r>
            <a:r>
              <a:rPr lang="en-US" altLang="zh-CN" sz="2000"/>
              <a:t>P=0;</a:t>
            </a:r>
            <a:r>
              <a:rPr lang="zh-CN" altLang="en-US" sz="2000"/>
              <a:t> it only needs to carry a non-zero task assigned by the system (</a:t>
            </a:r>
            <a:r>
              <a:rPr lang="en-US" altLang="zh-CN" sz="2000"/>
              <a:t>P,C). </a:t>
            </a:r>
            <a:r>
              <a:rPr lang="zh-CN" altLang="en-US" sz="2000"/>
              <a:t>When two lenses can generate opposing </a:t>
            </a:r>
            <a:r>
              <a:rPr lang="en-US" altLang="zh-CN" sz="2000"/>
              <a:t>chromatic contribution </a:t>
            </a:r>
            <a:r>
              <a:rPr lang="zh-CN" altLang="en-US" sz="2000"/>
              <a:t> internally, shape/power can be redistributed without immediately paying a large global chromatic-aberration penalty, thereby enlarging the feasible space of structural evolution.</a:t>
            </a: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Achromat-like shape is dominant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0135" y="1360170"/>
            <a:ext cx="627380" cy="226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08785" y="128968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n=1.68, v=19.24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314190" y="1416050"/>
            <a:ext cx="627380" cy="226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42840" y="134556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n=1.55, v=55.82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608330" y="2141855"/>
                <a:ext cx="11452225" cy="3662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With the original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glass order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,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L3/L4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it is difficult for L3/L4 to simultaneously provide the required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chromatic compensation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 and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Petzval contribution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. In the original combination, if we want to form a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L3 (-) / L4 (+)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 local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achromat-like pair,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i.e., </a:t>
                </a:r>
                <a:endParaRPr lang="en-US" altLang="zh-CN" sz="20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𝛷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𝛷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Because the original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L3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 uses a high-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Abbe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-number glass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(V3=55.82),L4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 uses a low-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Abbe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-number glass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(V4=19.24),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the required power relation is:</a:t>
                </a:r>
                <a:endParaRPr lang="zh-CN" altLang="en-US" sz="20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𝛷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sz="2000">
                          <a:latin typeface="Cambria Math" panose="02040503050406030204" charset="0"/>
                          <a:cs typeface="Cambria Math" panose="02040503050406030204" charset="0"/>
                        </a:rPr>
                        <m:t>|=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55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82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19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24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𝛷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sz="2000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sz="200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000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>
                          <a:latin typeface="Cambria Math" panose="02040503050406030204" charset="0"/>
                          <a:cs typeface="Cambria Math" panose="02040503050406030204" charset="0"/>
                        </a:rPr>
                        <m:t>9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𝛷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sz="2000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</m:oMath>
                  </m:oMathPara>
                </a14:m>
                <a:endParaRPr lang="zh-CN" altLang="en-US" sz="20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Under the thin-lens approximation, </a:t>
                </a:r>
                <a:endParaRPr lang="zh-CN" altLang="en-US" sz="20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𝛷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0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L3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 has a lower </a:t>
                </a:r>
                <a:r>
                  <a:rPr lang="en-US" sz="2000">
                    <a:latin typeface="Cambria Math" panose="02040503050406030204" charset="0"/>
                    <a:cs typeface="Cambria Math" panose="02040503050406030204" charset="0"/>
                  </a:rPr>
                  <a:t>n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, so such a large negative power produces a large negative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Petzval contribution.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In other words,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chromatic neutrality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 and the required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Petzval role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 are in strong conflict under this 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glass ordering 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.</a:t>
                </a:r>
                <a:endParaRPr lang="zh-CN" altLang="en-US" sz="20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30" y="2141855"/>
                <a:ext cx="11452225" cy="3662045"/>
              </a:xfrm>
              <a:prstGeom prst="rect">
                <a:avLst/>
              </a:prstGeom>
              <a:blipFill rotWithShape="1">
                <a:blip r:embed="rId2"/>
                <a:stretch>
                  <a:fillRect b="-22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achromat-like shape is </a:t>
            </a:r>
            <a:r>
              <a:rPr lang="en-US" altLang="zh-CN">
                <a:sym typeface="+mn-ea"/>
              </a:rPr>
              <a:t>dominant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470650" y="2121535"/>
            <a:ext cx="884555" cy="1903730"/>
            <a:chOff x="2073" y="2742"/>
            <a:chExt cx="1393" cy="2998"/>
          </a:xfrm>
        </p:grpSpPr>
        <p:sp>
          <p:nvSpPr>
            <p:cNvPr id="4" name="矩形 3"/>
            <p:cNvSpPr/>
            <p:nvPr/>
          </p:nvSpPr>
          <p:spPr>
            <a:xfrm>
              <a:off x="2333" y="2742"/>
              <a:ext cx="518" cy="2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2073" y="2742"/>
              <a:ext cx="567" cy="299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2446" y="2742"/>
              <a:ext cx="1021" cy="2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1080135" y="1360170"/>
            <a:ext cx="627380" cy="226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08785" y="128968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n=1.68, v=19.24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314190" y="1416050"/>
            <a:ext cx="627380" cy="226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42840" y="134556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n=1.55, v=55.82</a:t>
            </a:r>
            <a:endParaRPr lang="en-US" altLang="zh-CN"/>
          </a:p>
        </p:txBody>
      </p:sp>
      <p:grpSp>
        <p:nvGrpSpPr>
          <p:cNvPr id="16" name="组合 15"/>
          <p:cNvGrpSpPr/>
          <p:nvPr/>
        </p:nvGrpSpPr>
        <p:grpSpPr>
          <a:xfrm>
            <a:off x="6830060" y="2121535"/>
            <a:ext cx="521970" cy="1903095"/>
            <a:chOff x="4328" y="3574"/>
            <a:chExt cx="768" cy="2729"/>
          </a:xfrm>
        </p:grpSpPr>
        <p:sp>
          <p:nvSpPr>
            <p:cNvPr id="13" name="矩形 12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4328" y="3575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4544" y="3583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30375" y="2114561"/>
            <a:ext cx="521970" cy="1910766"/>
            <a:chOff x="4328" y="3564"/>
            <a:chExt cx="768" cy="2740"/>
          </a:xfrm>
        </p:grpSpPr>
        <p:sp>
          <p:nvSpPr>
            <p:cNvPr id="18" name="矩形 17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4328" y="3575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4544" y="3564"/>
              <a:ext cx="552" cy="27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216025" y="2114488"/>
            <a:ext cx="426720" cy="1904427"/>
            <a:chOff x="4544" y="3573"/>
            <a:chExt cx="552" cy="2731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2" name="矩形 21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4544" y="3573"/>
              <a:ext cx="552" cy="273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5" name="直接箭头连接符 24"/>
          <p:cNvCxnSpPr/>
          <p:nvPr/>
        </p:nvCxnSpPr>
        <p:spPr>
          <a:xfrm>
            <a:off x="2890520" y="3078480"/>
            <a:ext cx="31692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1725295" y="4629859"/>
            <a:ext cx="521970" cy="1910069"/>
            <a:chOff x="4328" y="3565"/>
            <a:chExt cx="768" cy="273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7" name="矩形 26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4328" y="3575"/>
              <a:ext cx="552" cy="27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4544" y="3565"/>
              <a:ext cx="552" cy="273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210945" y="4629088"/>
            <a:ext cx="426720" cy="1904427"/>
            <a:chOff x="4544" y="3573"/>
            <a:chExt cx="552" cy="2731"/>
          </a:xfrm>
          <a:solidFill>
            <a:schemeClr val="accent2"/>
          </a:solidFill>
        </p:grpSpPr>
        <p:sp>
          <p:nvSpPr>
            <p:cNvPr id="31" name="矩形 30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4544" y="3573"/>
              <a:ext cx="552" cy="273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33" name="直接箭头连接符 32"/>
          <p:cNvCxnSpPr/>
          <p:nvPr/>
        </p:nvCxnSpPr>
        <p:spPr>
          <a:xfrm flipV="1">
            <a:off x="2757170" y="3778250"/>
            <a:ext cx="3374390" cy="1666875"/>
          </a:xfrm>
          <a:prstGeom prst="straightConnector1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7110095" y="4636770"/>
            <a:ext cx="884555" cy="1903730"/>
            <a:chOff x="2073" y="2742"/>
            <a:chExt cx="1393" cy="2998"/>
          </a:xfrm>
        </p:grpSpPr>
        <p:sp>
          <p:nvSpPr>
            <p:cNvPr id="35" name="矩形 34"/>
            <p:cNvSpPr/>
            <p:nvPr/>
          </p:nvSpPr>
          <p:spPr>
            <a:xfrm>
              <a:off x="2333" y="2742"/>
              <a:ext cx="518" cy="2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2073" y="2742"/>
              <a:ext cx="567" cy="299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2446" y="2742"/>
              <a:ext cx="1021" cy="2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466349" y="4629796"/>
            <a:ext cx="529446" cy="1910766"/>
            <a:chOff x="4317" y="3564"/>
            <a:chExt cx="779" cy="2740"/>
          </a:xfrm>
        </p:grpSpPr>
        <p:sp>
          <p:nvSpPr>
            <p:cNvPr id="39" name="矩形 38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4317" y="3564"/>
              <a:ext cx="563" cy="27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4544" y="3564"/>
              <a:ext cx="552" cy="27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42" name="直接箭头连接符 41"/>
          <p:cNvCxnSpPr/>
          <p:nvPr/>
        </p:nvCxnSpPr>
        <p:spPr>
          <a:xfrm flipV="1">
            <a:off x="2756535" y="5664200"/>
            <a:ext cx="3214370" cy="698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809365" y="2625725"/>
            <a:ext cx="1738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easy</a:t>
            </a:r>
            <a:endParaRPr lang="en-US" altLang="zh-CN" sz="2000"/>
          </a:p>
        </p:txBody>
      </p:sp>
      <p:sp>
        <p:nvSpPr>
          <p:cNvPr id="44" name="文本框 43"/>
          <p:cNvSpPr txBox="1"/>
          <p:nvPr/>
        </p:nvSpPr>
        <p:spPr>
          <a:xfrm>
            <a:off x="3922395" y="4130675"/>
            <a:ext cx="1738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hard</a:t>
            </a:r>
            <a:endParaRPr lang="en-US" altLang="zh-CN" sz="2000"/>
          </a:p>
        </p:txBody>
      </p:sp>
      <p:sp>
        <p:nvSpPr>
          <p:cNvPr id="45" name="文本框 44"/>
          <p:cNvSpPr txBox="1"/>
          <p:nvPr/>
        </p:nvSpPr>
        <p:spPr>
          <a:xfrm>
            <a:off x="3846830" y="5214620"/>
            <a:ext cx="1738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easy</a:t>
            </a:r>
            <a:endParaRPr lang="en-US" altLang="zh-CN" sz="2000"/>
          </a:p>
        </p:txBody>
      </p:sp>
      <p:cxnSp>
        <p:nvCxnSpPr>
          <p:cNvPr id="8" name="直接连接符 7"/>
          <p:cNvCxnSpPr/>
          <p:nvPr/>
        </p:nvCxnSpPr>
        <p:spPr>
          <a:xfrm>
            <a:off x="5030470" y="5661025"/>
            <a:ext cx="20955" cy="106997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5072380" y="6705600"/>
            <a:ext cx="4958715" cy="1524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 flipV="1">
            <a:off x="10028555" y="5472430"/>
            <a:ext cx="2540" cy="1248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647950" y="5692775"/>
            <a:ext cx="190373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No swap initially</a:t>
            </a:r>
            <a:endParaRPr lang="zh-CN" altLang="en-US" sz="2000"/>
          </a:p>
        </p:txBody>
      </p:sp>
      <p:sp>
        <p:nvSpPr>
          <p:cNvPr id="50" name="文本框 49"/>
          <p:cNvSpPr txBox="1"/>
          <p:nvPr/>
        </p:nvSpPr>
        <p:spPr>
          <a:xfrm>
            <a:off x="5069205" y="6298565"/>
            <a:ext cx="1400175" cy="367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Swap</a:t>
            </a:r>
            <a:endParaRPr lang="zh-CN" altLang="en-US" sz="2000"/>
          </a:p>
        </p:txBody>
      </p:sp>
      <p:grpSp>
        <p:nvGrpSpPr>
          <p:cNvPr id="3" name="组合 2"/>
          <p:cNvGrpSpPr/>
          <p:nvPr/>
        </p:nvGrpSpPr>
        <p:grpSpPr>
          <a:xfrm>
            <a:off x="9587230" y="3310890"/>
            <a:ext cx="884555" cy="1903730"/>
            <a:chOff x="2073" y="2742"/>
            <a:chExt cx="1393" cy="2998"/>
          </a:xfrm>
        </p:grpSpPr>
        <p:sp>
          <p:nvSpPr>
            <p:cNvPr id="46" name="矩形 45"/>
            <p:cNvSpPr/>
            <p:nvPr/>
          </p:nvSpPr>
          <p:spPr>
            <a:xfrm>
              <a:off x="2333" y="2742"/>
              <a:ext cx="518" cy="2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2073" y="2742"/>
              <a:ext cx="567" cy="299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2446" y="2742"/>
              <a:ext cx="1021" cy="2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946640" y="3310890"/>
            <a:ext cx="521970" cy="1903095"/>
            <a:chOff x="4328" y="3574"/>
            <a:chExt cx="768" cy="2729"/>
          </a:xfrm>
        </p:grpSpPr>
        <p:sp>
          <p:nvSpPr>
            <p:cNvPr id="53" name="矩形 52"/>
            <p:cNvSpPr/>
            <p:nvPr/>
          </p:nvSpPr>
          <p:spPr>
            <a:xfrm>
              <a:off x="4552" y="3574"/>
              <a:ext cx="329" cy="27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4328" y="3575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4544" y="3583"/>
              <a:ext cx="552" cy="2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Achromat-like shape is dominant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0135" y="1360170"/>
            <a:ext cx="627380" cy="226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08785" y="128968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n=1.68, v=19.24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314190" y="1416050"/>
            <a:ext cx="627380" cy="226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42840" y="1345565"/>
            <a:ext cx="2016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n=1.55, v=55.82</a:t>
            </a:r>
            <a:endParaRPr lang="en-US" altLang="zh-CN"/>
          </a:p>
        </p:txBody>
      </p:sp>
      <p:grpSp>
        <p:nvGrpSpPr>
          <p:cNvPr id="56" name="组合 55"/>
          <p:cNvGrpSpPr/>
          <p:nvPr/>
        </p:nvGrpSpPr>
        <p:grpSpPr>
          <a:xfrm>
            <a:off x="1474470" y="2037080"/>
            <a:ext cx="3009265" cy="1923877"/>
            <a:chOff x="1425" y="3533"/>
            <a:chExt cx="6514" cy="4164"/>
          </a:xfrm>
        </p:grpSpPr>
        <p:grpSp>
          <p:nvGrpSpPr>
            <p:cNvPr id="3" name="组合 2"/>
            <p:cNvGrpSpPr/>
            <p:nvPr/>
          </p:nvGrpSpPr>
          <p:grpSpPr>
            <a:xfrm>
              <a:off x="3421" y="4148"/>
              <a:ext cx="2488" cy="3549"/>
              <a:chOff x="1991" y="2742"/>
              <a:chExt cx="1476" cy="2998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333" y="2742"/>
                <a:ext cx="518" cy="299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1991" y="2742"/>
                <a:ext cx="649" cy="299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2446" y="2742"/>
                <a:ext cx="1021" cy="29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288" y="4161"/>
              <a:ext cx="1393" cy="3535"/>
              <a:chOff x="2073" y="2742"/>
              <a:chExt cx="1393" cy="2998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2333" y="2742"/>
                <a:ext cx="518" cy="299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2073" y="2742"/>
                <a:ext cx="567" cy="299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2446" y="2742"/>
                <a:ext cx="1021" cy="29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5274" y="4148"/>
              <a:ext cx="834" cy="3548"/>
              <a:chOff x="4317" y="3564"/>
              <a:chExt cx="779" cy="274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4552" y="3574"/>
                <a:ext cx="329" cy="272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4317" y="3564"/>
                <a:ext cx="563" cy="273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4544" y="3564"/>
                <a:ext cx="552" cy="27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48" name="直接连接符 47"/>
            <p:cNvCxnSpPr>
              <a:endCxn id="23" idx="7"/>
            </p:cNvCxnSpPr>
            <p:nvPr/>
          </p:nvCxnSpPr>
          <p:spPr>
            <a:xfrm>
              <a:off x="1425" y="4216"/>
              <a:ext cx="2930" cy="452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V="1">
              <a:off x="4309" y="4346"/>
              <a:ext cx="1151" cy="340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5460" y="4388"/>
              <a:ext cx="486" cy="6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5887" y="4394"/>
              <a:ext cx="2052" cy="130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5077" y="3534"/>
              <a:ext cx="1112" cy="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ym typeface="+mn-ea"/>
                </a:rPr>
                <a:t>L3</a:t>
              </a:r>
              <a:endParaRPr lang="en-US" altLang="zh-CN" sz="200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389" y="3533"/>
              <a:ext cx="1156" cy="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ym typeface="+mn-ea"/>
                </a:rPr>
                <a:t>L4</a:t>
              </a:r>
              <a:endParaRPr lang="en-US" altLang="zh-CN" sz="200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700" y="3556"/>
              <a:ext cx="1175" cy="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ym typeface="+mn-ea"/>
                </a:rPr>
                <a:t>L2</a:t>
              </a:r>
              <a:endParaRPr lang="en-US" altLang="zh-CN" sz="2000"/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5687060" y="2141855"/>
            <a:ext cx="5407660" cy="3170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When </a:t>
            </a:r>
            <a:r>
              <a:rPr lang="en-US" altLang="zh-CN" sz="2000"/>
              <a:t>L3/L4 </a:t>
            </a:r>
            <a:r>
              <a:rPr lang="zh-CN" altLang="en-US" sz="2000"/>
              <a:t> cannot economically carry the local </a:t>
            </a:r>
            <a:r>
              <a:rPr lang="en-US" altLang="zh-CN" sz="2000"/>
              <a:t>chromatic task </a:t>
            </a:r>
            <a:r>
              <a:rPr lang="zh-CN" altLang="en-US" sz="2000"/>
              <a:t>, more of the compensation responsibility shifts to </a:t>
            </a:r>
            <a:r>
              <a:rPr lang="en-US" altLang="zh-CN" sz="2000"/>
              <a:t>L2. </a:t>
            </a:r>
            <a:r>
              <a:rPr lang="zh-CN" altLang="en-US" sz="2000"/>
              <a:t>A stronger negative </a:t>
            </a:r>
            <a:r>
              <a:rPr lang="en-US" altLang="zh-CN" sz="2000"/>
              <a:t>L2 power </a:t>
            </a:r>
            <a:r>
              <a:rPr lang="zh-CN" altLang="en-US" sz="2000"/>
              <a:t> makes the marginal ray leaving </a:t>
            </a:r>
            <a:r>
              <a:rPr lang="en-US" altLang="zh-CN" sz="2000"/>
              <a:t>L2 </a:t>
            </a:r>
            <a:r>
              <a:rPr lang="zh-CN" altLang="en-US" sz="2000"/>
              <a:t> more divergent; after propagating across the </a:t>
            </a:r>
            <a:r>
              <a:rPr lang="en-US" altLang="zh-CN" sz="2000"/>
              <a:t>L2–L3 </a:t>
            </a:r>
            <a:r>
              <a:rPr lang="zh-CN" altLang="en-US" sz="2000"/>
              <a:t> separation, this increases the </a:t>
            </a:r>
            <a:r>
              <a:rPr lang="en-US" altLang="zh-CN" sz="2000"/>
              <a:t>L3/L4 </a:t>
            </a:r>
            <a:r>
              <a:rPr lang="zh-CN" altLang="en-US" sz="2000"/>
              <a:t> </a:t>
            </a:r>
            <a:r>
              <a:rPr lang="en-US" altLang="zh-CN" sz="2000"/>
              <a:t>ray height </a:t>
            </a:r>
            <a:r>
              <a:rPr lang="zh-CN" altLang="en-US" sz="2000"/>
              <a:t>.</a:t>
            </a: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F/# </a:t>
            </a:r>
            <a:r>
              <a:rPr lang="zh-CN" altLang="en-US" sz="2000"/>
              <a:t> decreases further, this structure is more likely to encounter a marginal-ray </a:t>
            </a:r>
            <a:r>
              <a:rPr lang="en-US" altLang="zh-CN" sz="2000"/>
              <a:t> ray-trace problem; </a:t>
            </a:r>
            <a:r>
              <a:rPr lang="zh-CN" altLang="en-US" sz="2000"/>
              <a:t>To restore a traceable state, additional downstream positive power is required, causing a larger </a:t>
            </a:r>
            <a:r>
              <a:rPr lang="en-US" altLang="zh-CN" sz="2000"/>
              <a:t>Petzval / field-curvature </a:t>
            </a:r>
            <a:r>
              <a:rPr lang="zh-CN" altLang="en-US" sz="2000"/>
              <a:t> penalty.</a:t>
            </a:r>
            <a:endParaRPr lang="zh-CN" altLang="en-US" sz="2000"/>
          </a:p>
        </p:txBody>
      </p:sp>
      <p:grpSp>
        <p:nvGrpSpPr>
          <p:cNvPr id="92" name="组合 91"/>
          <p:cNvGrpSpPr/>
          <p:nvPr/>
        </p:nvGrpSpPr>
        <p:grpSpPr>
          <a:xfrm>
            <a:off x="1703705" y="4411345"/>
            <a:ext cx="2863897" cy="1929747"/>
            <a:chOff x="2883" y="7061"/>
            <a:chExt cx="4642" cy="3127"/>
          </a:xfrm>
        </p:grpSpPr>
        <p:grpSp>
          <p:nvGrpSpPr>
            <p:cNvPr id="85" name="组合 84"/>
            <p:cNvGrpSpPr/>
            <p:nvPr/>
          </p:nvGrpSpPr>
          <p:grpSpPr>
            <a:xfrm>
              <a:off x="4178" y="7061"/>
              <a:ext cx="1570" cy="3127"/>
              <a:chOff x="2073" y="2742"/>
              <a:chExt cx="1393" cy="2998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2333" y="2742"/>
                <a:ext cx="518" cy="299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2073" y="2742"/>
                <a:ext cx="567" cy="299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446" y="2742"/>
                <a:ext cx="1021" cy="29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5258" y="7132"/>
              <a:ext cx="1393" cy="2998"/>
              <a:chOff x="2073" y="2742"/>
              <a:chExt cx="1393" cy="2998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2333" y="2742"/>
                <a:ext cx="518" cy="299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2073" y="2742"/>
                <a:ext cx="567" cy="299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2446" y="2742"/>
                <a:ext cx="1021" cy="29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5824" y="7132"/>
              <a:ext cx="822" cy="2997"/>
              <a:chOff x="4328" y="3574"/>
              <a:chExt cx="768" cy="2729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4552" y="3574"/>
                <a:ext cx="329" cy="272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4328" y="3575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4544" y="3583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89" name="直接连接符 88"/>
            <p:cNvCxnSpPr/>
            <p:nvPr/>
          </p:nvCxnSpPr>
          <p:spPr>
            <a:xfrm>
              <a:off x="2883" y="7327"/>
              <a:ext cx="2423" cy="407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V="1">
              <a:off x="5329" y="7558"/>
              <a:ext cx="638" cy="160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6028" y="7558"/>
              <a:ext cx="1497" cy="244"/>
            </a:xfrm>
            <a:prstGeom prst="line">
              <a:avLst/>
            </a:prstGeom>
            <a:ln w="28575" cmpd="sng">
              <a:solidFill>
                <a:srgbClr val="FF000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3" name="文本框 92"/>
          <p:cNvSpPr txBox="1"/>
          <p:nvPr/>
        </p:nvSpPr>
        <p:spPr>
          <a:xfrm>
            <a:off x="2525449" y="4047322"/>
            <a:ext cx="542813" cy="39872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L2</a:t>
            </a:r>
            <a:endParaRPr lang="en-US" altLang="zh-CN" sz="2000"/>
          </a:p>
        </p:txBody>
      </p:sp>
      <p:sp>
        <p:nvSpPr>
          <p:cNvPr id="94" name="文本框 93"/>
          <p:cNvSpPr txBox="1"/>
          <p:nvPr/>
        </p:nvSpPr>
        <p:spPr>
          <a:xfrm>
            <a:off x="3239189" y="4058752"/>
            <a:ext cx="54281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L3</a:t>
            </a:r>
            <a:endParaRPr lang="en-US" altLang="zh-CN" sz="2000"/>
          </a:p>
        </p:txBody>
      </p:sp>
      <p:sp>
        <p:nvSpPr>
          <p:cNvPr id="95" name="文本框 94"/>
          <p:cNvSpPr txBox="1"/>
          <p:nvPr/>
        </p:nvSpPr>
        <p:spPr>
          <a:xfrm>
            <a:off x="3569389" y="4053672"/>
            <a:ext cx="54281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L4</a:t>
            </a:r>
            <a:endParaRPr lang="en-US" altLang="zh-CN" sz="2000"/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How can designer language be converted into a quantitative description?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305560" y="1894840"/>
            <a:ext cx="883920" cy="1903730"/>
            <a:chOff x="7516" y="3567"/>
            <a:chExt cx="1392" cy="2998"/>
          </a:xfrm>
        </p:grpSpPr>
        <p:grpSp>
          <p:nvGrpSpPr>
            <p:cNvPr id="7" name="组合 6"/>
            <p:cNvGrpSpPr/>
            <p:nvPr/>
          </p:nvGrpSpPr>
          <p:grpSpPr>
            <a:xfrm>
              <a:off x="7516" y="3567"/>
              <a:ext cx="1393" cy="2998"/>
              <a:chOff x="2073" y="2742"/>
              <a:chExt cx="1393" cy="2998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333" y="2742"/>
                <a:ext cx="518" cy="299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2073" y="2742"/>
                <a:ext cx="567" cy="299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446" y="2742"/>
                <a:ext cx="1021" cy="29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082" y="3567"/>
              <a:ext cx="822" cy="2997"/>
              <a:chOff x="4328" y="3574"/>
              <a:chExt cx="768" cy="2729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4552" y="3574"/>
                <a:ext cx="329" cy="272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328" y="3575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4544" y="3583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1428115" y="1419225"/>
            <a:ext cx="359410" cy="308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i</a:t>
            </a:r>
            <a:endParaRPr lang="en-US" sz="2800" b="1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9590" y="1409700"/>
            <a:ext cx="359410" cy="308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accent2"/>
                </a:solidFill>
              </a:rPr>
              <a:t>j</a:t>
            </a:r>
            <a:endParaRPr lang="en-US" sz="2800" b="1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9730" y="3970020"/>
            <a:ext cx="40944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What exactly is </a:t>
            </a:r>
            <a:r>
              <a:rPr lang="en-US" altLang="zh-CN" sz="2000"/>
              <a:t>‘achromat-like shape’</a:t>
            </a:r>
            <a:r>
              <a:rPr lang="zh-CN" altLang="en-US" sz="2000"/>
              <a:t>?</a:t>
            </a:r>
            <a:endParaRPr lang="zh-CN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How do we describe </a:t>
            </a:r>
            <a:r>
              <a:rPr lang="en-US" altLang="zh-CN" sz="2000"/>
              <a:t>‘</a:t>
            </a:r>
            <a:r>
              <a:rPr lang="zh-CN" altLang="en-US" sz="2000"/>
              <a:t>finding a stable compensation path</a:t>
            </a:r>
            <a:r>
              <a:rPr lang="en-US" altLang="zh-CN" sz="2000"/>
              <a:t>’</a:t>
            </a:r>
            <a:r>
              <a:rPr lang="zh-CN" altLang="en-US" sz="2000"/>
              <a:t>?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133340" y="1618615"/>
                <a:ext cx="5648960" cy="241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/>
                  <a:t>For a lens group </a:t>
                </a:r>
                <a:r>
                  <a:rPr lang="en-US" altLang="zh-CN" sz="2000"/>
                  <a:t>(i,j)</a:t>
                </a:r>
                <a:r>
                  <a:rPr lang="zh-CN" altLang="en-US" sz="2000"/>
                  <a:t>, define the </a:t>
                </a:r>
                <a:r>
                  <a:rPr lang="en-US" altLang="zh-CN" sz="2000"/>
                  <a:t>P-C</a:t>
                </a:r>
                <a:r>
                  <a:rPr lang="zh-CN" altLang="en-US" sz="2000"/>
                  <a:t>self-compensation coefficient </a:t>
                </a:r>
                <a:r>
                  <a:rPr lang="en-US" altLang="zh-CN" sz="2000"/>
                  <a:t>K</a:t>
                </a:r>
                <a:r>
                  <a:rPr lang="zh-CN" altLang="en-US" sz="2000"/>
                  <a:t>：</a:t>
                </a:r>
                <a:endParaRPr lang="zh-CN" altLang="en-US" sz="2000"/>
              </a:p>
              <a:p>
                <a:pPr indent="0">
                  <a:lnSpc>
                    <a:spcPct val="14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𝛤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|+|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𝛤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|+|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lnSpc>
                    <a:spcPct val="14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𝑖𝑗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𝛤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𝛤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</m:rad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r>
                  <a:rPr lang="zh-CN" altLang="en-US" sz="2000"/>
                  <a:t>For a lens group </a:t>
                </a:r>
                <a:r>
                  <a:rPr lang="en-US" altLang="zh-CN" sz="2000"/>
                  <a:t>(i,j)</a:t>
                </a:r>
                <a:r>
                  <a:rPr lang="zh-CN" altLang="en-US" sz="2000"/>
                  <a:t>, this describes the strength of its internal </a:t>
                </a:r>
                <a:r>
                  <a:rPr lang="en-US" altLang="zh-CN" sz="2000"/>
                  <a:t>P-C</a:t>
                </a:r>
                <a:r>
                  <a:rPr lang="zh-CN" altLang="en-US" sz="2000"/>
                  <a:t> self-compensation. For </a:t>
                </a:r>
                <a:r>
                  <a:rPr lang="en-US" altLang="zh-CN" sz="2000"/>
                  <a:t>‘achromat-like shape’</a:t>
                </a:r>
                <a:r>
                  <a:rPr lang="zh-CN" altLang="en-US" sz="2000"/>
                  <a:t>,</a:t>
                </a:r>
                <a:r>
                  <a:rPr lang="en-US" altLang="zh-CN" sz="2000"/>
                  <a:t>K → 0.</a:t>
                </a:r>
                <a:endParaRPr lang="en-US" altLang="zh-CN" sz="200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340" y="1618615"/>
                <a:ext cx="5648960" cy="2416175"/>
              </a:xfrm>
              <a:prstGeom prst="rect">
                <a:avLst/>
              </a:prstGeom>
              <a:blipFill rotWithShape="1">
                <a:blip r:embed="rId2"/>
                <a:stretch>
                  <a:fillRect b="-22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How can designer language be converted into a quantitative description?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17880" y="1610360"/>
            <a:ext cx="883920" cy="1903730"/>
            <a:chOff x="7516" y="3567"/>
            <a:chExt cx="1392" cy="2998"/>
          </a:xfrm>
        </p:grpSpPr>
        <p:grpSp>
          <p:nvGrpSpPr>
            <p:cNvPr id="7" name="组合 6"/>
            <p:cNvGrpSpPr/>
            <p:nvPr/>
          </p:nvGrpSpPr>
          <p:grpSpPr>
            <a:xfrm>
              <a:off x="7516" y="3567"/>
              <a:ext cx="1393" cy="2998"/>
              <a:chOff x="2073" y="2742"/>
              <a:chExt cx="1393" cy="2998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333" y="2742"/>
                <a:ext cx="518" cy="299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2073" y="2742"/>
                <a:ext cx="567" cy="299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446" y="2742"/>
                <a:ext cx="1021" cy="29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082" y="3567"/>
              <a:ext cx="822" cy="2997"/>
              <a:chOff x="4328" y="3574"/>
              <a:chExt cx="768" cy="2729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4552" y="3574"/>
                <a:ext cx="329" cy="272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328" y="3575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4544" y="3583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133340" y="1618615"/>
                <a:ext cx="5940425" cy="4156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/>
                  <a:t>For two adjacent </a:t>
                </a:r>
                <a:r>
                  <a:rPr lang="en-US" altLang="zh-CN" sz="2000"/>
                  <a:t>state</a:t>
                </a:r>
                <a:r>
                  <a:rPr lang="zh-CN" altLang="en-US" sz="2000"/>
                  <a:t>, define the </a:t>
                </a:r>
                <a:r>
                  <a:rPr lang="en-US" altLang="zh-CN" sz="2000"/>
                  <a:t>P-C</a:t>
                </a:r>
                <a:r>
                  <a:rPr lang="zh-CN" altLang="en-US" sz="2000"/>
                  <a:t> evolution direction angle:</a:t>
                </a:r>
                <a:endParaRPr lang="zh-CN" altLang="en-US" sz="2000"/>
              </a:p>
              <a:p>
                <a:pPr indent="0">
                  <a:lnSpc>
                    <a:spcPct val="14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𝛥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 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 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𝛥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 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lnSpc>
                    <a:spcPct val="14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𝑎𝑟𝑐𝑡𝑎𝑛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𝛥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𝛥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r>
                  <a:rPr lang="zh-CN" altLang="en-US" sz="2000"/>
                  <a:t>This describes the </a:t>
                </a:r>
                <a:r>
                  <a:rPr lang="en-US" altLang="zh-CN" sz="2000"/>
                  <a:t>P-C</a:t>
                </a:r>
                <a:r>
                  <a:rPr lang="zh-CN" altLang="en-US" sz="2000"/>
                  <a:t> compensation-evolution direction of the group at the current state.</a:t>
                </a:r>
                <a:endParaRPr lang="zh-CN" altLang="en-US" sz="2000"/>
              </a:p>
              <a:p>
                <a:pPr indent="0">
                  <a:buFont typeface="Arial" panose="020B0604020202020204" pitchFamily="34" charset="0"/>
                  <a:buNone/>
                </a:pPr>
                <a:endParaRPr lang="zh-CN" altLang="en-US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/>
                  <a:t>We can then calculate the </a:t>
                </a:r>
                <a:r>
                  <a:rPr lang="en-US" altLang="zh-CN" sz="2000"/>
                  <a:t>N</a:t>
                </a:r>
                <a:r>
                  <a:rPr lang="zh-CN" altLang="en-US" sz="2000"/>
                  <a:t>-state </a:t>
                </a:r>
                <a:r>
                  <a:rPr lang="en-US" altLang="zh-CN" sz="2000"/>
                  <a:t>state</a:t>
                </a:r>
                <a:r>
                  <a:rPr lang="zh-CN" altLang="en-US" sz="2000"/>
                  <a:t> </a:t>
                </a:r>
                <a:r>
                  <a:rPr lang="en-US" altLang="zh-CN" sz="2000"/>
                  <a:t>P-C</a:t>
                </a:r>
                <a:r>
                  <a:rPr lang="zh-CN" altLang="en-US" sz="2000"/>
                  <a:t> evolution-direction coherence:</a:t>
                </a:r>
                <a:endParaRPr lang="zh-CN" altLang="en-US" sz="2000"/>
              </a:p>
              <a:p>
                <a:pPr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=|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𝑒𝑥𝑝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r>
                  <a:rPr lang="zh-CN" altLang="en-US" sz="2000"/>
                  <a:t>This describes whether, over the most recent </a:t>
                </a:r>
                <a:r>
                  <a:rPr lang="en-US" altLang="zh-CN" sz="2000"/>
                  <a:t>N</a:t>
                </a:r>
                <a:r>
                  <a:rPr lang="zh-CN" altLang="en-US" sz="2000"/>
                  <a:t>-state </a:t>
                </a:r>
                <a:r>
                  <a:rPr lang="en-US" altLang="zh-CN" sz="2000"/>
                  <a:t>state</a:t>
                </a:r>
                <a:r>
                  <a:rPr lang="zh-CN" altLang="en-US" sz="2000"/>
                  <a:t>, the structure follows a stable </a:t>
                </a:r>
                <a:r>
                  <a:rPr lang="en-US" altLang="zh-CN" sz="2000"/>
                  <a:t>P-C</a:t>
                </a:r>
                <a:r>
                  <a:rPr lang="zh-CN" altLang="en-US" sz="2000"/>
                  <a:t> compensation trajectory.</a:t>
                </a:r>
                <a:endParaRPr lang="zh-CN" altLang="en-US" sz="200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340" y="1618615"/>
                <a:ext cx="5940425" cy="4156710"/>
              </a:xfrm>
              <a:prstGeom prst="rect">
                <a:avLst/>
              </a:prstGeom>
              <a:blipFill rotWithShape="1">
                <a:blip r:embed="rId2"/>
                <a:stretch>
                  <a:fillRect b="-25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956310" y="3550920"/>
            <a:ext cx="7918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S_t</a:t>
            </a:r>
            <a:endParaRPr lang="en-US" altLang="zh-CN" sz="2000"/>
          </a:p>
        </p:txBody>
      </p:sp>
      <p:grpSp>
        <p:nvGrpSpPr>
          <p:cNvPr id="17" name="组合 16"/>
          <p:cNvGrpSpPr/>
          <p:nvPr/>
        </p:nvGrpSpPr>
        <p:grpSpPr>
          <a:xfrm>
            <a:off x="2981325" y="1605280"/>
            <a:ext cx="1012825" cy="1903730"/>
            <a:chOff x="7315" y="3567"/>
            <a:chExt cx="1595" cy="2998"/>
          </a:xfrm>
        </p:grpSpPr>
        <p:grpSp>
          <p:nvGrpSpPr>
            <p:cNvPr id="18" name="组合 17"/>
            <p:cNvGrpSpPr/>
            <p:nvPr/>
          </p:nvGrpSpPr>
          <p:grpSpPr>
            <a:xfrm>
              <a:off x="7315" y="3567"/>
              <a:ext cx="1595" cy="2998"/>
              <a:chOff x="1872" y="2742"/>
              <a:chExt cx="1595" cy="2998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2236" y="2742"/>
                <a:ext cx="615" cy="299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1872" y="2742"/>
                <a:ext cx="590" cy="299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2850" y="2742"/>
                <a:ext cx="617" cy="299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082" y="3567"/>
              <a:ext cx="822" cy="2997"/>
              <a:chOff x="4328" y="3574"/>
              <a:chExt cx="768" cy="2729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4552" y="3574"/>
                <a:ext cx="329" cy="272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4328" y="3575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544" y="3583"/>
                <a:ext cx="552" cy="27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26" name="文本框 25"/>
          <p:cNvSpPr txBox="1"/>
          <p:nvPr/>
        </p:nvSpPr>
        <p:spPr>
          <a:xfrm>
            <a:off x="3108960" y="3545840"/>
            <a:ext cx="930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S_t+1</a:t>
            </a:r>
            <a:endParaRPr lang="en-US" altLang="zh-CN" sz="200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1851660" y="2543175"/>
            <a:ext cx="1069975" cy="3111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How can designer language be converted into a quantitative description?</a:t>
            </a:r>
            <a:endParaRPr lang="zh-CN" altLang="en-US"/>
          </a:p>
        </p:txBody>
      </p:sp>
      <p:graphicFrame>
        <p:nvGraphicFramePr>
          <p:cNvPr id="9" name="表格 8"/>
          <p:cNvGraphicFramePr/>
          <p:nvPr/>
        </p:nvGraphicFramePr>
        <p:xfrm>
          <a:off x="1509395" y="2003425"/>
          <a:ext cx="8531860" cy="3643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105"/>
                <a:gridCol w="1485265"/>
                <a:gridCol w="1525905"/>
                <a:gridCol w="4807585"/>
              </a:tblGrid>
              <a:tr h="4813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self-compensation coefficient </a:t>
                      </a:r>
                      <a:r>
                        <a:rPr lang="en-US" altLang="zh-CN"/>
                        <a:t>K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Directional coherence </a:t>
                      </a:r>
                      <a:r>
                        <a:rPr lang="en-US" altLang="zh-CN"/>
                        <a:t>R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Structural state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Low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High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Internal </a:t>
                      </a:r>
                      <a:r>
                        <a:rPr lang="en-US" altLang="zh-CN"/>
                        <a:t>P–C </a:t>
                      </a:r>
                      <a:r>
                        <a:rPr lang="zh-CN" altLang="en-US"/>
                        <a:t>compensation is strong, with coherent recent evolution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High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High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Internal </a:t>
                      </a:r>
                      <a:r>
                        <a:rPr lang="en-US" altLang="zh-CN"/>
                        <a:t>P–C </a:t>
                      </a:r>
                      <a:r>
                        <a:rPr lang="zh-CN" altLang="en-US"/>
                        <a:t>compensation is weak, but recent evolution remains coherent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High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Low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Internal </a:t>
                      </a:r>
                      <a:r>
                        <a:rPr lang="en-US" altLang="zh-CN"/>
                        <a:t>P–C </a:t>
                      </a:r>
                      <a:r>
                        <a:rPr lang="zh-CN" altLang="en-US"/>
                        <a:t>compensation is weak, with dispersed or frequently changing recent evolution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Low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Low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Internal </a:t>
                      </a:r>
                      <a:r>
                        <a:rPr lang="en-US" altLang="zh-CN"/>
                        <a:t>P–C </a:t>
                      </a:r>
                      <a:r>
                        <a:rPr lang="zh-CN" altLang="en-US"/>
                        <a:t>compensation is strong, while local functional roles are being redistributed</a:t>
                      </a:r>
                      <a:endParaRPr lang="zh-CN" altLang="en-US"/>
                    </a:p>
                  </a:txBody>
                  <a:tcPr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UT_swap_K_theta_R_man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930" y="379730"/>
            <a:ext cx="9796780" cy="5492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64510" y="168275"/>
            <a:ext cx="553974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400"/>
              <a:t>Glass-swap route: </a:t>
            </a:r>
            <a:r>
              <a:rPr lang="en-US" altLang="zh-CN" sz="2400"/>
              <a:t>L3L4</a:t>
            </a:r>
            <a:r>
              <a:rPr lang="zh-CN" altLang="en-US" sz="2400"/>
              <a:t> group: </a:t>
            </a:r>
            <a:r>
              <a:rPr lang="en-US" altLang="zh-CN" sz="2400"/>
              <a:t>K</a:t>
            </a:r>
            <a:r>
              <a:rPr lang="zh-CN" altLang="en-US" sz="2400"/>
              <a:t>,</a:t>
            </a:r>
            <a:r>
              <a:rPr lang="en-US" altLang="zh-CN" sz="2400"/>
              <a:t>R7</a:t>
            </a:r>
            <a:endParaRPr lang="en-US" altLang="zh-CN" sz="2400"/>
          </a:p>
        </p:txBody>
      </p:sp>
      <p:sp>
        <p:nvSpPr>
          <p:cNvPr id="6" name="文本框 5"/>
          <p:cNvSpPr txBox="1"/>
          <p:nvPr/>
        </p:nvSpPr>
        <p:spPr>
          <a:xfrm>
            <a:off x="1816735" y="5662930"/>
            <a:ext cx="27044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Internal </a:t>
            </a:r>
            <a:r>
              <a:rPr lang="en-US" altLang="zh-CN">
                <a:sym typeface="+mn-ea"/>
              </a:rPr>
              <a:t>P–C </a:t>
            </a:r>
            <a:r>
              <a:rPr lang="zh-CN" altLang="en-US">
                <a:sym typeface="+mn-ea"/>
              </a:rPr>
              <a:t>compensation is weak, but recent evolution remains coherent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164455" y="5662930"/>
            <a:ext cx="27044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Internal </a:t>
            </a:r>
            <a:r>
              <a:rPr lang="en-US" altLang="zh-CN">
                <a:sym typeface="+mn-ea"/>
              </a:rPr>
              <a:t>P–C </a:t>
            </a:r>
            <a:r>
              <a:rPr lang="zh-CN" altLang="en-US">
                <a:sym typeface="+mn-ea"/>
              </a:rPr>
              <a:t>compensation is strong, with coherent recent evolution</a:t>
            </a:r>
            <a:endParaRPr lang="en-US" altLang="zh-CN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248785" y="5985510"/>
            <a:ext cx="91567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512175" y="5662930"/>
            <a:ext cx="3022600" cy="9220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Internal </a:t>
            </a:r>
            <a:r>
              <a:rPr lang="en-US" altLang="zh-CN">
                <a:sym typeface="+mn-ea"/>
              </a:rPr>
              <a:t>P–C </a:t>
            </a:r>
            <a:r>
              <a:rPr lang="zh-CN" altLang="en-US">
                <a:sym typeface="+mn-ea"/>
              </a:rPr>
              <a:t>compensation is strong, while local functional roles are being redistributed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>
            <a:off x="7688580" y="5985510"/>
            <a:ext cx="91567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No_swap_K_theta_R_manu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379730"/>
            <a:ext cx="10342245" cy="57988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85540" y="158115"/>
            <a:ext cx="501015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400"/>
              <a:t>No-swap route: </a:t>
            </a:r>
            <a:r>
              <a:rPr lang="en-US" altLang="zh-CN" sz="2400"/>
              <a:t>L3L4</a:t>
            </a:r>
            <a:r>
              <a:rPr lang="zh-CN" altLang="en-US" sz="2400"/>
              <a:t> group: </a:t>
            </a:r>
            <a:r>
              <a:rPr lang="en-US" altLang="zh-CN" sz="2400"/>
              <a:t>K</a:t>
            </a:r>
            <a:r>
              <a:rPr lang="zh-CN" altLang="en-US" sz="2400"/>
              <a:t>,</a:t>
            </a:r>
            <a:r>
              <a:rPr lang="en-US" altLang="zh-CN" sz="2400"/>
              <a:t>R7</a:t>
            </a:r>
            <a:endParaRPr lang="en-US" altLang="zh-CN" sz="2400"/>
          </a:p>
        </p:txBody>
      </p:sp>
      <p:sp>
        <p:nvSpPr>
          <p:cNvPr id="6" name="文本框 5"/>
          <p:cNvSpPr txBox="1"/>
          <p:nvPr/>
        </p:nvSpPr>
        <p:spPr>
          <a:xfrm>
            <a:off x="4743450" y="5737860"/>
            <a:ext cx="270446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Internal </a:t>
            </a:r>
            <a:r>
              <a:rPr lang="en-US" altLang="zh-CN">
                <a:sym typeface="+mn-ea"/>
              </a:rPr>
              <a:t>P–C </a:t>
            </a:r>
            <a:r>
              <a:rPr lang="zh-CN" altLang="en-US">
                <a:sym typeface="+mn-ea"/>
              </a:rPr>
              <a:t>compensation is weak, but recent evolution remains coherent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038225" y="5737860"/>
            <a:ext cx="334073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ym typeface="+mn-ea"/>
              </a:rPr>
              <a:t>Internal </a:t>
            </a:r>
            <a:r>
              <a:rPr lang="en-US" altLang="zh-CN">
                <a:sym typeface="+mn-ea"/>
              </a:rPr>
              <a:t>P–C </a:t>
            </a:r>
            <a:r>
              <a:rPr lang="zh-CN" altLang="en-US">
                <a:sym typeface="+mn-ea"/>
              </a:rPr>
              <a:t>compensation is weak, with dispersed or frequently changing recent evolution</a:t>
            </a:r>
            <a:endParaRPr lang="en-US" altLang="zh-CN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001770" y="6060440"/>
            <a:ext cx="91567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975600" y="5737860"/>
            <a:ext cx="3340735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ym typeface="+mn-ea"/>
              </a:rPr>
              <a:t>Internal </a:t>
            </a:r>
            <a:r>
              <a:rPr lang="en-US" altLang="zh-CN">
                <a:sym typeface="+mn-ea"/>
              </a:rPr>
              <a:t>P–C </a:t>
            </a:r>
            <a:r>
              <a:rPr lang="zh-CN" altLang="en-US">
                <a:sym typeface="+mn-ea"/>
              </a:rPr>
              <a:t>compensation is weak, with dispersed or frequently changing recent evolution</a:t>
            </a:r>
            <a:endParaRPr lang="en-US" altLang="zh-CN"/>
          </a:p>
        </p:txBody>
      </p:sp>
      <p:cxnSp>
        <p:nvCxnSpPr>
          <p:cNvPr id="9" name="直接箭头连接符 8"/>
          <p:cNvCxnSpPr/>
          <p:nvPr/>
        </p:nvCxnSpPr>
        <p:spPr>
          <a:xfrm>
            <a:off x="7164070" y="6060440"/>
            <a:ext cx="91567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/>
              <p:cNvGraphicFramePr/>
              <p:nvPr/>
            </p:nvGraphicFramePr>
            <p:xfrm>
              <a:off x="1376045" y="1705610"/>
              <a:ext cx="9779000" cy="41332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89500"/>
                    <a:gridCol w="4889500"/>
                  </a:tblGrid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Designer language</a:t>
                          </a:r>
                          <a:endParaRPr lang="zh-CN" altLang="en-US" sz="24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400"/>
                            <a:t>AI</a:t>
                          </a:r>
                          <a:r>
                            <a:rPr lang="zh-CN" altLang="en-US" sz="2400"/>
                            <a:t>Quantitative description easier for AI to interpret</a:t>
                          </a:r>
                          <a:endParaRPr lang="zh-CN" altLang="en-US" sz="24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L3/L4</a:t>
                          </a:r>
                          <a:r>
                            <a:rPr lang="zh-CN" altLang="en-US" sz="2000"/>
                            <a:t>resembles an achromat-like lens group</a:t>
                          </a: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K_34 → 0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this lens pair has weak chromatic and field-curvature compensation capability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K_34 ↑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the group evolves in a consistent direction</a:t>
                          </a: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similar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_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000"/>
                            <a:t>, high R_N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the group evolution is highly dispersed</a:t>
                          </a: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>
                              <a:sym typeface="+mn-ea"/>
                            </a:rPr>
                            <a:t>dispersed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_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000">
                              <a:sym typeface="+mn-ea"/>
                            </a:rPr>
                            <a:t>, low R_N</a:t>
                          </a:r>
                          <a:endParaRPr lang="en-US" altLang="zh-CN" sz="2000"/>
                        </a:p>
                        <a:p>
                          <a:pPr>
                            <a:buNone/>
                          </a:pP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...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/>
              <p:cNvGraphicFramePr/>
              <p:nvPr/>
            </p:nvGraphicFramePr>
            <p:xfrm>
              <a:off x="1376045" y="1705610"/>
              <a:ext cx="9779000" cy="41332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89500"/>
                    <a:gridCol w="4889500"/>
                  </a:tblGrid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Designer language</a:t>
                          </a:r>
                          <a:endParaRPr lang="zh-CN" altLang="en-US" sz="24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400"/>
                            <a:t>AI</a:t>
                          </a:r>
                          <a:r>
                            <a:rPr lang="zh-CN" altLang="en-US" sz="2400"/>
                            <a:t>Quantitative description easier for AI to interpret</a:t>
                          </a:r>
                          <a:endParaRPr lang="zh-CN" altLang="en-US" sz="24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L3/L4</a:t>
                          </a:r>
                          <a:r>
                            <a:rPr lang="zh-CN" altLang="en-US" sz="2000"/>
                            <a:t>resembles an achromat-like lens group</a:t>
                          </a: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K_34 → 0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this lens pair has weak chromatic and field-curvature compensation capability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K_34 ↑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  <a:tr h="701040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the group evolves in a consistent direction</a:t>
                          </a: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"/>
                        </a:blipFill>
                      </a:tcPr>
                    </a:tc>
                  </a:tr>
                  <a:tr h="701040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2000"/>
                            <a:t>the group evolution is highly dispersed</a:t>
                          </a: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1"/>
                        </a:blipFill>
                      </a:tcPr>
                    </a:tc>
                  </a:tr>
                  <a:tr h="686435"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en-US" altLang="zh-CN" sz="2000"/>
                            <a:t>...</a:t>
                          </a:r>
                          <a:endParaRPr lang="en-US" altLang="zh-CN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endParaRPr lang="zh-CN" altLang="en-US" sz="2000"/>
                        </a:p>
                      </a:txBody>
                      <a:tcPr>
                        <a:lnL w="19050" cmpd="sng">
                          <a:solidFill>
                            <a:schemeClr val="tx1"/>
                          </a:solidFill>
                          <a:prstDash val="solid"/>
                        </a:lnL>
                        <a:lnR w="19050" cmpd="sng">
                          <a:solidFill>
                            <a:schemeClr val="tx1"/>
                          </a:solidFill>
                          <a:prstDash val="solid"/>
                        </a:lnR>
                        <a:lnT w="19050" cmpd="sng">
                          <a:solidFill>
                            <a:schemeClr val="tx1"/>
                          </a:solidFill>
                          <a:prstDash val="solid"/>
                        </a:lnT>
                        <a:lnB w="1905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What did KABBALAH change?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19735" y="1490345"/>
            <a:ext cx="11452860" cy="4759325"/>
          </a:xfrm>
        </p:spPr>
        <p:txBody>
          <a:bodyPr>
            <a:normAutofit fontScale="70000"/>
          </a:bodyPr>
          <a:p>
            <a:r>
              <a:rPr lang="zh-CN" altLang="en-US" sz="2400">
                <a:solidFill>
                  <a:schemeClr val="tx1"/>
                </a:solidFill>
              </a:rPr>
              <a:t>How questions are discovered: designer experience summaries</a:t>
            </a:r>
            <a:r>
              <a:rPr lang="en-US" altLang="zh-CN" sz="2400">
                <a:solidFill>
                  <a:schemeClr val="tx1"/>
                </a:solidFill>
              </a:rPr>
              <a:t> → </a:t>
            </a:r>
            <a:r>
              <a:rPr lang="zh-CN" altLang="en-US" sz="2400">
                <a:solidFill>
                  <a:schemeClr val="tx1"/>
                </a:solidFill>
              </a:rPr>
              <a:t>questions emerging naturally from optimization history</a:t>
            </a:r>
            <a:endParaRPr lang="zh-CN" altLang="en-US" sz="2400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How problems are analyzed: horizontal comparison of multiple structures</a:t>
            </a:r>
            <a:r>
              <a:rPr lang="en-US" altLang="zh-CN" sz="2400">
                <a:solidFill>
                  <a:schemeClr val="tx1"/>
                </a:solidFill>
              </a:rPr>
              <a:t> → </a:t>
            </a:r>
            <a:r>
              <a:rPr lang="zh-CN" altLang="en-US" sz="2400">
                <a:solidFill>
                  <a:schemeClr val="tx1"/>
                </a:solidFill>
              </a:rPr>
              <a:t>longitudinal comparison along optimization trajectories</a:t>
            </a:r>
            <a:endParaRPr lang="zh-CN" altLang="en-US" sz="2400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How hypotheses are formulated</a:t>
            </a:r>
            <a:r>
              <a:rPr lang="en-US" altLang="zh-CN" sz="2400">
                <a:solidFill>
                  <a:schemeClr val="tx1"/>
                </a:solidFill>
              </a:rPr>
              <a:t>/</a:t>
            </a:r>
            <a:r>
              <a:rPr lang="zh-CN" altLang="en-US" sz="2400">
                <a:solidFill>
                  <a:schemeClr val="tx1"/>
                </a:solidFill>
              </a:rPr>
              <a:t>tested: wait for the next design</a:t>
            </a:r>
            <a:r>
              <a:rPr lang="en-US" altLang="zh-CN" sz="2400">
                <a:solidFill>
                  <a:schemeClr val="tx1"/>
                </a:solidFill>
              </a:rPr>
              <a:t> → </a:t>
            </a:r>
            <a:r>
              <a:rPr lang="zh-CN" altLang="en-US" sz="2400">
                <a:solidFill>
                  <a:schemeClr val="tx1"/>
                </a:solidFill>
              </a:rPr>
              <a:t>quantitative comparison of multiple historical routes and actively designed control experiments during review</a:t>
            </a:r>
            <a:endParaRPr lang="zh-CN" altLang="en-US" sz="2400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How optical design is communicated with </a:t>
            </a:r>
            <a:r>
              <a:rPr lang="en-US" altLang="zh-CN" sz="2400">
                <a:solidFill>
                  <a:schemeClr val="tx1"/>
                </a:solidFill>
              </a:rPr>
              <a:t>AI</a:t>
            </a:r>
            <a:r>
              <a:rPr lang="zh-CN" altLang="en-US" sz="2400">
                <a:solidFill>
                  <a:schemeClr val="tx1"/>
                </a:solidFill>
              </a:rPr>
              <a:t>: mainly text descriptions</a:t>
            </a:r>
            <a:r>
              <a:rPr lang="en-US" altLang="zh-CN" sz="2400">
                <a:solidFill>
                  <a:schemeClr val="tx1"/>
                </a:solidFill>
              </a:rPr>
              <a:t> → AI</a:t>
            </a:r>
            <a:r>
              <a:rPr lang="zh-CN" altLang="en-US" sz="2400">
                <a:solidFill>
                  <a:schemeClr val="tx1"/>
                </a:solidFill>
              </a:rPr>
              <a:t> retrieves and quantifies information directly from real design history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16585" y="444500"/>
            <a:ext cx="11284585" cy="58540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60270" y="3079750"/>
            <a:ext cx="7035800" cy="22453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800"/>
              <a:t>Four files, compressed size: </a:t>
            </a:r>
            <a:r>
              <a:rPr lang="en-US" altLang="zh-CN" sz="2800"/>
              <a:t>533KB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14</a:t>
            </a:r>
            <a:r>
              <a:rPr lang="zh-CN" altLang="en-US" sz="2800"/>
              <a:t>0,000-line log compilation time</a:t>
            </a:r>
            <a:r>
              <a:rPr lang="en-US" altLang="zh-CN" sz="2800"/>
              <a:t> = 5s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Only </a:t>
            </a:r>
            <a:r>
              <a:rPr lang="en-US" altLang="zh-CN" sz="2800"/>
              <a:t>6</a:t>
            </a:r>
            <a:r>
              <a:rPr lang="zh-CN" altLang="en-US" sz="2800"/>
              <a:t> manually saved </a:t>
            </a:r>
            <a:r>
              <a:rPr lang="en-US" altLang="zh-CN" sz="2800"/>
              <a:t>initial/final results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TABLE_ENDDRAG_ORIGIN_RECT" val="192*235"/>
  <p:tag name="TABLE_ENDDRAG_RECT" val="417*8*192*235"/>
</p:tagLst>
</file>

<file path=ppt/tags/tag85.xml><?xml version="1.0" encoding="utf-8"?>
<p:tagLst xmlns:p="http://schemas.openxmlformats.org/presentationml/2006/main">
  <p:tag name="TABLE_ENDDRAG_ORIGIN_RECT" val="192*235"/>
  <p:tag name="TABLE_ENDDRAG_RECT" val="417*8*192*235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TABLE_ENDDRAG_ORIGIN_RECT" val="192*235"/>
  <p:tag name="TABLE_ENDDRAG_RECT" val="417*8*192*235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TABLE_ENDDRAG_ORIGIN_RECT" val="192*235"/>
  <p:tag name="TABLE_ENDDRAG_RECT" val="417*8*192*235"/>
</p:tagLst>
</file>

<file path=ppt/tags/tag94.xml><?xml version="1.0" encoding="utf-8"?>
<p:tagLst xmlns:p="http://schemas.openxmlformats.org/presentationml/2006/main">
  <p:tag name="TABLE_ENDDRAG_ORIGIN_RECT" val="199*197"/>
  <p:tag name="TABLE_ENDDRAG_RECT" val="435*7*199*197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11326</Words>
  <Application>WPS 演示</Application>
  <PresentationFormat>宽屏</PresentationFormat>
  <Paragraphs>756</Paragraphs>
  <Slides>32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WPS</vt:lpstr>
      <vt:lpstr>PowerPoint 演示文稿</vt:lpstr>
      <vt:lpstr>KABBALAH — infrastructure for quantitative analysis of the optical design process</vt:lpstr>
      <vt:lpstr>PowerPoint 演示文稿</vt:lpstr>
      <vt:lpstr>PowerPoint 演示文稿</vt:lpstr>
      <vt:lpstr>PowerPoint 演示文稿</vt:lpstr>
      <vt:lpstr>What can this be used for?</vt:lpstr>
      <vt:lpstr>Case 1: Effect of distortion-constraint strategy on lens thickness</vt:lpstr>
      <vt:lpstr>Case 1: Effect of distortion-constraint strategy on lens thickness</vt:lpstr>
      <vt:lpstr>Case 1: Effect of distortion-constraint strategy on lens thickness</vt:lpstr>
      <vt:lpstr>Case 1: Effect of distortion-constraint strategy on lens thickness</vt:lpstr>
      <vt:lpstr>Case 1: Effect of distortion-constraint strategy on lens thickness</vt:lpstr>
      <vt:lpstr>Case 2: Recover a forgotten optimization process and obtain a better design</vt:lpstr>
      <vt:lpstr>Case 2: Recover a forgotten optimization process through trajectory review</vt:lpstr>
      <vt:lpstr>Case 2: Recover a forgotten optimization process through trajectory review</vt:lpstr>
      <vt:lpstr>Case 3: Analyze the mechanism behind the glass swap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Achromat-like shape is dominant</vt:lpstr>
      <vt:lpstr>Achromat-like shape is dominant</vt:lpstr>
      <vt:lpstr>achromat-like shape is dominant</vt:lpstr>
      <vt:lpstr>Achromat-like shape is dominant</vt:lpstr>
      <vt:lpstr>How can designer language be converted into a quantitative description?</vt:lpstr>
      <vt:lpstr>How can designer language be converted into a quantitative description?</vt:lpstr>
      <vt:lpstr>How can designer language be converted into a quantitative description?</vt:lpstr>
      <vt:lpstr>PowerPoint 演示文稿</vt:lpstr>
      <vt:lpstr>PowerPoint 演示文稿</vt:lpstr>
      <vt:lpstr>PowerPoint 演示文稿</vt:lpstr>
      <vt:lpstr>What did KABBALAH change?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Krishna</cp:lastModifiedBy>
  <cp:revision>310</cp:revision>
  <dcterms:created xsi:type="dcterms:W3CDTF">2019-06-19T02:08:00Z</dcterms:created>
  <dcterms:modified xsi:type="dcterms:W3CDTF">2026-10-16T20:46:45Z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A82DA4CDCED94220A82EE3C16E6774C9_11</vt:lpwstr>
  </property>
</Properties>
</file>